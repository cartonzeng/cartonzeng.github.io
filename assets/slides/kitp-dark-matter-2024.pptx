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8" r:id="rId2"/>
    <p:sldId id="259" r:id="rId3"/>
    <p:sldId id="294" r:id="rId4"/>
    <p:sldId id="333" r:id="rId5"/>
    <p:sldId id="334" r:id="rId6"/>
    <p:sldId id="337" r:id="rId7"/>
    <p:sldId id="335" r:id="rId8"/>
    <p:sldId id="338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51" r:id="rId19"/>
    <p:sldId id="352" r:id="rId20"/>
    <p:sldId id="349" r:id="rId21"/>
    <p:sldId id="354" r:id="rId22"/>
    <p:sldId id="353" r:id="rId23"/>
    <p:sldId id="33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0"/>
    <p:restoredTop sz="94834"/>
  </p:normalViewPr>
  <p:slideViewPr>
    <p:cSldViewPr snapToGrid="0">
      <p:cViewPr varScale="1">
        <p:scale>
          <a:sx n="74" d="100"/>
          <a:sy n="74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F48F17-F0EA-003A-EFFD-8E9466E0FF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E65F1-7192-C95C-2786-C3F0E7BBB4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48DEB-523E-424A-ACE5-127888D3F0F2}" type="datetimeFigureOut">
              <a:rPr lang="en-US" smtClean="0"/>
              <a:t>6/13/24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D42A6-530D-8F2C-C39E-8B124130D7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4B162-ED9E-BE9C-2C52-321AA2BA60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1250A-909C-42C4-8613-A6FB8C03A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604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BC76D-F1C1-4E28-90ED-74D9B143F2EB}" type="datetimeFigureOut">
              <a:rPr lang="en-US" smtClean="0"/>
              <a:t>6/13/24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05D25-6265-4301-B38D-7A33901BE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832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605D25-6265-4301-B38D-7A33901BE6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46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AD3A-1C77-4391-C8FD-37DD178FA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68B2F-B873-557F-D9CB-9D4B9C051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F9022-074B-7E6E-4812-5EFC3C3D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D249-44DB-48FF-BFA5-D7B75664CE41}" type="datetime1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7DF6C-66C5-2B0F-8FEF-43A7A929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2057-2993-D36A-6D8D-8B2BCACE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27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D6856-200A-7EB3-4C8E-2B606C32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18A97-8174-0AA5-2420-6CE434AC6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71987-5F73-196B-596F-45C31A37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FC9C5-0C51-46B8-AD73-E394C63EB3CA}" type="datetime1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67F4C-4812-038B-77B9-1AE81E08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CFB5E-C498-B14F-C5BE-5E41074FE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2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AF3C-1B3D-CD89-2BCE-DAFCFE1FF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0BD77-EC33-4EED-4BFE-F2B341E9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02274-A3E8-CCC4-66C9-2ED3298F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C5B45-BAC8-42F9-B8F4-C3368A337A87}" type="datetime1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D22CE-2621-B550-71A1-0A03C1C3B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A37DC-7FD1-A5C9-F41A-014493C2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43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3E09-0864-520C-416C-C06A4BFB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265BF-95C2-534B-1B3B-D8546269A7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D0E3A-93A5-DAB1-D5E9-E92BE33DE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EA835-DE2C-57B6-B306-18379C93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C200-11AF-463C-A90E-DC42BDEC576A}" type="datetime1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192EA-BD4B-5615-BBFA-CF95CE602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14673-8078-369F-D584-8181E3DB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2222-6B4F-E8F8-6CCC-3EF430C2E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C085B-CF76-D2F9-6F9A-A053495B7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6D2CE-6ACA-1325-7407-E62F38538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34990-50A3-1934-B569-7812DBFB0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9ECCF-3F1A-8726-1850-2DC9CEBC9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82F646-C3FD-A6A8-172E-8C273DE4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5A33E-E627-4195-B9FD-2146870835D3}" type="datetime1">
              <a:rPr lang="en-US" smtClean="0"/>
              <a:t>6/13/24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68A19-2322-746C-3D02-A27D0A99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ACC05-CA9E-F29C-0F82-95A565B0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38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2C66-1C11-02F2-A77E-F502082A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B350C-31B9-6E75-8965-0E1A149A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BA0B-A788-4863-8E3B-C7436812CDC6}" type="datetime1">
              <a:rPr lang="en-US" smtClean="0"/>
              <a:t>6/13/24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BD1EA-E1F5-9BFE-B6C5-6A5CC8A3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4E24D-CB3B-8269-140D-F9846BF8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7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73B589-F3BF-75C3-965A-11D7F6F1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A5C1B-472A-4589-8605-7036112A1162}" type="datetime1">
              <a:rPr lang="en-US" smtClean="0"/>
              <a:t>6/13/24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CE986-DA55-AF71-4694-3B71833E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46AB7-3C53-FF23-FBFE-4B27455C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1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F0E0-DBD2-FCB2-5A09-FF7051876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8F5EC-F652-8681-AAF7-D1021E5A9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51767-795E-3B09-B81D-3F4F30B25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EEEED-437C-5EF9-F0DB-BBACB515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853E-8DE4-455F-8863-97F91C492A75}" type="datetime1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83BFF-9D23-E254-E2B7-4D9FA6CD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29A38-5988-E93A-7326-E8724BA38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5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27724-5B4C-2ACC-4F22-F5C83148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351487-3BAD-23AA-38D1-0410D24ED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1EBFE-EE5C-1EA1-1C03-A221B1C05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FAA3D-2E7F-B1C4-F23A-78AFDA85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E4C3A-A7EF-4047-89B8-2E50144B2521}" type="datetime1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76FE9-08F6-C47C-DD54-D64602306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C4CC1-EC0E-172E-946F-7F14A585C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5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082D7-6D74-1C6F-7D21-D6CBDA81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04A8F-DA81-05E7-124E-50E03FBF3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FB2CD-58E8-0682-80D3-F5CA1364B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1ABD1-B82F-4A7D-A5D6-3FE40A1ACDE3}" type="datetime1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36D1C-69CE-FE12-B2AE-F46A714A4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215F3-8574-9972-CEF3-92A4A75F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6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26A3E-849F-D7CF-4F57-6E563F9DF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6D1E2-5AC1-BCBC-35F6-E625AC3D3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C1D91-17C3-C42D-DA0E-21881187C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493C9-D5BD-45B5-9C7B-052FA3B793C8}" type="datetime1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D7C8A-42FC-4AF8-524E-4C661A66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8C98F-D76B-2359-4128-96548995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27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BA0FE-6ABA-5AE5-B5C4-0F67D933D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45495-40A1-DC10-42E1-F07C0AD96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A1704-969C-DD68-C679-9F0BE6826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99A06A-8135-44A6-90A7-139034D121AE}" type="datetime1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85FD1-E64E-BA0D-1655-75BAD4B23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AAB42-35D2-4F5F-F531-BB2CFB7E4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F2E56-F38B-4884-892C-CACB94051F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7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B079-D10F-E99A-7F40-28D3359F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065"/>
            <a:ext cx="10515600" cy="1325563"/>
          </a:xfrm>
        </p:spPr>
        <p:txBody>
          <a:bodyPr>
            <a:noAutofit/>
          </a:bodyPr>
          <a:lstStyle/>
          <a:p>
            <a:r>
              <a:rPr lang="en-US" sz="5000" dirty="0"/>
              <a:t>SIDM </a:t>
            </a:r>
            <a:r>
              <a:rPr lang="en-US" sz="5000" dirty="0" err="1"/>
              <a:t>subhalos</a:t>
            </a:r>
            <a:r>
              <a:rPr lang="en-US" sz="5000" dirty="0"/>
              <a:t> and satellites: core, core-collapse, and 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474F9-F59A-F74F-AC0E-35A7C3ED3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954" y="2556387"/>
            <a:ext cx="4864510" cy="4129548"/>
          </a:xfrm>
        </p:spPr>
        <p:txBody>
          <a:bodyPr/>
          <a:lstStyle/>
          <a:p>
            <a:r>
              <a:rPr lang="en-US" dirty="0"/>
              <a:t>Individual </a:t>
            </a:r>
            <a:r>
              <a:rPr lang="en-US" dirty="0" err="1"/>
              <a:t>subhalo</a:t>
            </a:r>
            <a:endParaRPr lang="en-US" dirty="0"/>
          </a:p>
          <a:p>
            <a:pPr lvl="1"/>
            <a:r>
              <a:rPr lang="en-US" dirty="0"/>
              <a:t>Build the hybrid method</a:t>
            </a:r>
          </a:p>
          <a:p>
            <a:pPr lvl="1"/>
            <a:r>
              <a:rPr lang="en-US" dirty="0"/>
              <a:t>Understand physics driving DM evolution</a:t>
            </a:r>
          </a:p>
          <a:p>
            <a:pPr lvl="1"/>
            <a:r>
              <a:rPr lang="en-US" dirty="0" err="1"/>
              <a:t>ZCZeng</a:t>
            </a:r>
            <a:r>
              <a:rPr lang="en-US" dirty="0"/>
              <a:t> et al 2110.00259</a:t>
            </a:r>
          </a:p>
          <a:p>
            <a:r>
              <a:rPr lang="en-US" dirty="0"/>
              <a:t>Population of </a:t>
            </a:r>
            <a:r>
              <a:rPr lang="en-US" dirty="0" err="1"/>
              <a:t>subhalos</a:t>
            </a:r>
            <a:endParaRPr lang="en-US" dirty="0"/>
          </a:p>
          <a:p>
            <a:pPr lvl="1"/>
            <a:r>
              <a:rPr lang="en-US" dirty="0"/>
              <a:t>Statistical properties given SIDM models</a:t>
            </a:r>
          </a:p>
          <a:p>
            <a:pPr lvl="1"/>
            <a:r>
              <a:rPr lang="en-US" dirty="0" err="1"/>
              <a:t>ZCZeng</a:t>
            </a:r>
            <a:r>
              <a:rPr lang="en-US" dirty="0"/>
              <a:t> et al  2310.09910</a:t>
            </a:r>
          </a:p>
          <a:p>
            <a:pPr lvl="2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C2997-AF59-0575-10D4-E2E1AA7D7005}"/>
              </a:ext>
            </a:extLst>
          </p:cNvPr>
          <p:cNvSpPr txBox="1"/>
          <p:nvPr/>
        </p:nvSpPr>
        <p:spPr>
          <a:xfrm>
            <a:off x="8465573" y="952833"/>
            <a:ext cx="32708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Zhichao “Carton” Zeng</a:t>
            </a:r>
          </a:p>
          <a:p>
            <a:pPr algn="ctr"/>
            <a:r>
              <a:rPr lang="en-US" sz="2400" dirty="0"/>
              <a:t>OSU </a:t>
            </a:r>
            <a:r>
              <a:rPr lang="en-US" sz="2400" dirty="0">
                <a:sym typeface="Wingdings" panose="05000000000000000000" pitchFamily="2" charset="2"/>
              </a:rPr>
              <a:t> Texas A&amp;M</a:t>
            </a:r>
            <a:endParaRPr lang="en-US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69FDA8-0192-03FD-3BBA-114DF27384D2}"/>
              </a:ext>
            </a:extLst>
          </p:cNvPr>
          <p:cNvSpPr txBox="1">
            <a:spLocks/>
          </p:cNvSpPr>
          <p:nvPr/>
        </p:nvSpPr>
        <p:spPr>
          <a:xfrm>
            <a:off x="6408173" y="2768863"/>
            <a:ext cx="4864510" cy="3582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Individual </a:t>
            </a:r>
            <a:r>
              <a:rPr lang="en-US" dirty="0" err="1"/>
              <a:t>subhalo</a:t>
            </a:r>
            <a:r>
              <a:rPr lang="en-US" dirty="0"/>
              <a:t> + galaxy</a:t>
            </a:r>
          </a:p>
          <a:p>
            <a:pPr lvl="1"/>
            <a:r>
              <a:rPr lang="en-US" dirty="0" err="1"/>
              <a:t>DM+star</a:t>
            </a:r>
            <a:r>
              <a:rPr lang="en-US" dirty="0"/>
              <a:t> particles</a:t>
            </a:r>
          </a:p>
          <a:p>
            <a:pPr lvl="2"/>
            <a:r>
              <a:rPr lang="en-US" dirty="0"/>
              <a:t>Numerical issues</a:t>
            </a:r>
          </a:p>
          <a:p>
            <a:pPr lvl="1"/>
            <a:r>
              <a:rPr lang="en-US" dirty="0"/>
              <a:t>Trace evolution of stellar properties: size, mass-light ratio, v-dispersion</a:t>
            </a:r>
          </a:p>
          <a:p>
            <a:pPr lvl="1"/>
            <a:r>
              <a:rPr lang="en-US" dirty="0"/>
              <a:t>Diversity &amp; universality (tidal-track)</a:t>
            </a:r>
          </a:p>
          <a:p>
            <a:pPr lvl="1"/>
            <a:r>
              <a:rPr lang="en-US" dirty="0"/>
              <a:t>240x.xxxxx</a:t>
            </a:r>
          </a:p>
          <a:p>
            <a:pPr lvl="2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1BC567-36C5-B708-C945-B50F495EEC03}"/>
              </a:ext>
            </a:extLst>
          </p:cNvPr>
          <p:cNvSpPr/>
          <p:nvPr/>
        </p:nvSpPr>
        <p:spPr>
          <a:xfrm>
            <a:off x="1096296" y="2479668"/>
            <a:ext cx="4515468" cy="3787053"/>
          </a:xfrm>
          <a:prstGeom prst="rect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082EB-8FE1-7C40-A35E-66DBAB74B15E}"/>
              </a:ext>
            </a:extLst>
          </p:cNvPr>
          <p:cNvSpPr/>
          <p:nvPr/>
        </p:nvSpPr>
        <p:spPr>
          <a:xfrm>
            <a:off x="6300018" y="2730680"/>
            <a:ext cx="4864510" cy="3337649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AD307C-A0F7-9440-D9F9-AA494CC302B1}"/>
              </a:ext>
            </a:extLst>
          </p:cNvPr>
          <p:cNvSpPr txBox="1"/>
          <p:nvPr/>
        </p:nvSpPr>
        <p:spPr>
          <a:xfrm>
            <a:off x="2123768" y="6147101"/>
            <a:ext cx="170912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solidFill>
                  <a:srgbClr val="0070C0"/>
                </a:solidFill>
              </a:rPr>
              <a:t>DM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EFD4DC-17C9-6A02-B4C9-ECAE97F7E7B3}"/>
              </a:ext>
            </a:extLst>
          </p:cNvPr>
          <p:cNvSpPr txBox="1"/>
          <p:nvPr/>
        </p:nvSpPr>
        <p:spPr>
          <a:xfrm>
            <a:off x="7502013" y="6147101"/>
            <a:ext cx="2313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accent2">
                    <a:lumMod val="75000"/>
                  </a:schemeClr>
                </a:solidFill>
              </a:rPr>
              <a:t>DM+stars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0DD44F-41E8-620C-95D1-B7E640E48966}"/>
              </a:ext>
            </a:extLst>
          </p:cNvPr>
          <p:cNvSpPr txBox="1"/>
          <p:nvPr/>
        </p:nvSpPr>
        <p:spPr>
          <a:xfrm>
            <a:off x="3507381" y="1756583"/>
            <a:ext cx="52248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Controlled/idealized simulations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861635-9699-F253-1D24-966DC51C4C21}"/>
              </a:ext>
            </a:extLst>
          </p:cNvPr>
          <p:cNvCxnSpPr>
            <a:cxnSpLocks/>
          </p:cNvCxnSpPr>
          <p:nvPr/>
        </p:nvCxnSpPr>
        <p:spPr>
          <a:xfrm flipV="1">
            <a:off x="3507381" y="2212258"/>
            <a:ext cx="1595561" cy="26741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567E31-12D3-2113-EC44-E72371245729}"/>
              </a:ext>
            </a:extLst>
          </p:cNvPr>
          <p:cNvCxnSpPr>
            <a:cxnSpLocks/>
          </p:cNvCxnSpPr>
          <p:nvPr/>
        </p:nvCxnSpPr>
        <p:spPr>
          <a:xfrm flipH="1" flipV="1">
            <a:off x="6892413" y="2212258"/>
            <a:ext cx="1573160" cy="477834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1659D78-306F-1547-0C14-D6095DE4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3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FF932-9CAD-002B-FD97-372757D6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203" y="997538"/>
            <a:ext cx="5637797" cy="46363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8F133A-E6B7-7499-6605-8CACC7601485}"/>
              </a:ext>
            </a:extLst>
          </p:cNvPr>
          <p:cNvSpPr txBox="1">
            <a:spLocks/>
          </p:cNvSpPr>
          <p:nvPr/>
        </p:nvSpPr>
        <p:spPr>
          <a:xfrm>
            <a:off x="476493" y="486261"/>
            <a:ext cx="10519299" cy="8312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Controlled simulations</a:t>
            </a:r>
            <a:endParaRPr lang="zh-TW" alt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9A3A1-B5FD-3DD1-9BA0-D3F4AAB44CC9}"/>
              </a:ext>
            </a:extLst>
          </p:cNvPr>
          <p:cNvSpPr txBox="1">
            <a:spLocks/>
          </p:cNvSpPr>
          <p:nvPr/>
        </p:nvSpPr>
        <p:spPr>
          <a:xfrm>
            <a:off x="0" y="1543665"/>
            <a:ext cx="7497468" cy="44759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An isolated host + its </a:t>
            </a:r>
            <a:r>
              <a:rPr lang="en-US" sz="2400" dirty="0" err="1"/>
              <a:t>subhalo</a:t>
            </a:r>
            <a:r>
              <a:rPr lang="en-US" sz="2400" dirty="0"/>
              <a:t>(s)</a:t>
            </a:r>
          </a:p>
          <a:p>
            <a:r>
              <a:rPr lang="en-US" sz="2400" dirty="0"/>
              <a:t>Halos are initialized as halos at the beginning</a:t>
            </a:r>
          </a:p>
          <a:p>
            <a:r>
              <a:rPr lang="en-US" sz="2400" dirty="0"/>
              <a:t>High resolution, controllable orbits, </a:t>
            </a:r>
            <a:r>
              <a:rPr lang="en-US" sz="2400" dirty="0" err="1"/>
              <a:t>etc</a:t>
            </a:r>
            <a:endParaRPr lang="en-US" sz="2400" dirty="0"/>
          </a:p>
          <a:p>
            <a:endParaRPr lang="en-US" dirty="0"/>
          </a:p>
          <a:p>
            <a:r>
              <a:rPr lang="en-US" sz="2400" dirty="0"/>
              <a:t>For our case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The host is an analytic </a:t>
            </a:r>
            <a:r>
              <a:rPr lang="en-US" sz="2200" dirty="0" err="1"/>
              <a:t>mass+velocity</a:t>
            </a:r>
            <a:r>
              <a:rPr lang="en-US" sz="2200" dirty="0"/>
              <a:t> distribution</a:t>
            </a:r>
          </a:p>
          <a:p>
            <a:pPr lvl="1"/>
            <a:r>
              <a:rPr lang="en-US" sz="2200" dirty="0"/>
              <a:t>Capture the host-</a:t>
            </a:r>
            <a:r>
              <a:rPr lang="en-US" sz="2200" dirty="0" err="1"/>
              <a:t>subhalo</a:t>
            </a:r>
            <a:r>
              <a:rPr lang="en-US" sz="2200" dirty="0"/>
              <a:t> interaction</a:t>
            </a:r>
          </a:p>
          <a:p>
            <a:pPr lvl="2"/>
            <a:r>
              <a:rPr lang="en-US" dirty="0"/>
              <a:t>Tidal force – already mature</a:t>
            </a:r>
          </a:p>
          <a:p>
            <a:pPr lvl="2"/>
            <a:r>
              <a:rPr lang="en-US" dirty="0"/>
              <a:t>Evaporation: self-interaction of host-sub pair</a:t>
            </a:r>
          </a:p>
          <a:p>
            <a:pPr lvl="3"/>
            <a:r>
              <a:rPr lang="en-US" dirty="0"/>
              <a:t>Semi-analytically calculated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3E718-B95C-3593-472E-D40329AB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1D083-CFCB-2E1A-FF07-86678C8C7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643" y="5790800"/>
            <a:ext cx="2057578" cy="70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875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48EF21-4407-2987-4F76-82921F5D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625" y="1154203"/>
            <a:ext cx="4020760" cy="54968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B85715-C80D-4678-86D7-A1E09C45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7" y="-172501"/>
            <a:ext cx="10519299" cy="1326704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Individual SIDM </a:t>
            </a:r>
            <a:r>
              <a:rPr lang="en-US" altLang="zh-CN" sz="3600" dirty="0" err="1"/>
              <a:t>subhalo</a:t>
            </a:r>
            <a:endParaRPr lang="zh-TW" alt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55E7BE-1F47-435C-BC81-D9CE0634BF2D}"/>
              </a:ext>
            </a:extLst>
          </p:cNvPr>
          <p:cNvSpPr txBox="1"/>
          <p:nvPr/>
        </p:nvSpPr>
        <p:spPr>
          <a:xfrm>
            <a:off x="139354" y="2321836"/>
            <a:ext cx="2195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Central density</a:t>
            </a:r>
            <a:endParaRPr lang="zh-TW" alt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D1C11-B44D-4620-9515-B6633CC8775F}"/>
              </a:ext>
            </a:extLst>
          </p:cNvPr>
          <p:cNvSpPr txBox="1"/>
          <p:nvPr/>
        </p:nvSpPr>
        <p:spPr>
          <a:xfrm>
            <a:off x="79978" y="4300396"/>
            <a:ext cx="2314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Orbital distance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367F1B-A522-40B8-951B-3490748F780F}"/>
                  </a:ext>
                </a:extLst>
              </p:cNvPr>
              <p:cNvSpPr txBox="1"/>
              <p:nvPr/>
            </p:nvSpPr>
            <p:spPr>
              <a:xfrm>
                <a:off x="152426" y="5172474"/>
                <a:ext cx="1909115" cy="1685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200" dirty="0">
                    <a:solidFill>
                      <a:srgbClr val="FF0000"/>
                    </a:solidFill>
                  </a:rPr>
                  <a:t>Evaporation heating event rate: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𝑜𝑟𝑏𝑖𝑡</m:t>
                          </m:r>
                        </m:sub>
                      </m:sSub>
                      <m:f>
                        <m:fPr>
                          <m:ctrlP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h𝑜𝑠𝑡</m:t>
                          </m:r>
                        </m:sub>
                      </m:sSub>
                    </m:oMath>
                  </m:oMathPara>
                </a14:m>
                <a:endParaRPr lang="zh-TW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367F1B-A522-40B8-951B-3490748F7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26" y="5172474"/>
                <a:ext cx="1909115" cy="1685526"/>
              </a:xfrm>
              <a:prstGeom prst="rect">
                <a:avLst/>
              </a:prstGeom>
              <a:blipFill>
                <a:blip r:embed="rId3"/>
                <a:stretch>
                  <a:fillRect l="-4153" t="-2536" r="-3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B179E79-76E2-4C21-ACF3-1596F6DA8719}"/>
              </a:ext>
            </a:extLst>
          </p:cNvPr>
          <p:cNvSpPr txBox="1"/>
          <p:nvPr/>
        </p:nvSpPr>
        <p:spPr>
          <a:xfrm>
            <a:off x="6252737" y="2866353"/>
            <a:ext cx="1865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</a:rPr>
              <a:t>Tidal heating rate</a:t>
            </a:r>
            <a:endParaRPr lang="zh-TW" altLang="en-US" sz="22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3C8ECF-2174-4037-84CD-B00B26C9203E}"/>
              </a:ext>
            </a:extLst>
          </p:cNvPr>
          <p:cNvSpPr txBox="1"/>
          <p:nvPr/>
        </p:nvSpPr>
        <p:spPr>
          <a:xfrm>
            <a:off x="6136696" y="1501620"/>
            <a:ext cx="1981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00B0F0"/>
                </a:solidFill>
              </a:rPr>
              <a:t>Internal cooling by heat outflow</a:t>
            </a:r>
            <a:endParaRPr lang="zh-TW" altLang="en-US" sz="2000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738FA6-5530-447F-9F15-E11D9DF4B311}"/>
              </a:ext>
            </a:extLst>
          </p:cNvPr>
          <p:cNvSpPr txBox="1"/>
          <p:nvPr/>
        </p:nvSpPr>
        <p:spPr>
          <a:xfrm>
            <a:off x="6427433" y="4444967"/>
            <a:ext cx="56585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err="1"/>
              <a:t>Subhalo</a:t>
            </a:r>
            <a:r>
              <a:rPr lang="en-US" altLang="zh-TW" sz="2000" dirty="0"/>
              <a:t> central density grows only if </a:t>
            </a:r>
            <a:r>
              <a:rPr lang="en-US" altLang="zh-TW" sz="2000" dirty="0">
                <a:solidFill>
                  <a:srgbClr val="00B0F0"/>
                </a:solidFill>
              </a:rPr>
              <a:t>cooling</a:t>
            </a:r>
            <a:r>
              <a:rPr lang="en-US" altLang="zh-TW" sz="2000" dirty="0"/>
              <a:t> &gt; </a:t>
            </a:r>
            <a:r>
              <a:rPr lang="en-US" altLang="zh-TW" sz="2000" dirty="0">
                <a:solidFill>
                  <a:srgbClr val="FF0000"/>
                </a:solidFill>
              </a:rPr>
              <a:t>heating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Evaporation heating can be strong enough to disrupt pre-core-collapse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Core-collapse or not is </a:t>
            </a:r>
            <a:r>
              <a:rPr lang="en-US" altLang="zh-TW" sz="2000" dirty="0">
                <a:solidFill>
                  <a:srgbClr val="7030A0"/>
                </a:solidFill>
              </a:rPr>
              <a:t>highly sensitive</a:t>
            </a:r>
            <a:r>
              <a:rPr lang="en-US" altLang="zh-TW" sz="2000" dirty="0"/>
              <a:t> to </a:t>
            </a:r>
            <a:r>
              <a:rPr lang="en-US" altLang="zh-TW" sz="2000" dirty="0" err="1"/>
              <a:t>subhalo</a:t>
            </a:r>
            <a:r>
              <a:rPr lang="en-US" altLang="zh-TW" sz="2000" dirty="0"/>
              <a:t>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7030A0"/>
                </a:solidFill>
              </a:rPr>
              <a:t>Diversity of </a:t>
            </a:r>
            <a:r>
              <a:rPr lang="en-US" altLang="zh-TW" sz="2000" dirty="0" err="1">
                <a:solidFill>
                  <a:srgbClr val="7030A0"/>
                </a:solidFill>
              </a:rPr>
              <a:t>subhalo</a:t>
            </a:r>
            <a:r>
              <a:rPr lang="en-US" altLang="zh-TW" sz="2000" dirty="0">
                <a:solidFill>
                  <a:srgbClr val="7030A0"/>
                </a:solidFill>
              </a:rPr>
              <a:t> central density!</a:t>
            </a:r>
            <a:endParaRPr lang="zh-TW" altLang="en-US" sz="2000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F9E7B9-C158-4A03-B64E-184F1B99D57D}"/>
              </a:ext>
            </a:extLst>
          </p:cNvPr>
          <p:cNvSpPr txBox="1"/>
          <p:nvPr/>
        </p:nvSpPr>
        <p:spPr>
          <a:xfrm>
            <a:off x="2864150" y="1929323"/>
            <a:ext cx="566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NFW</a:t>
            </a:r>
            <a:endParaRPr lang="zh-TW" altLang="en-US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BD7FE5-0462-44B6-B627-51E303AAFE89}"/>
              </a:ext>
            </a:extLst>
          </p:cNvPr>
          <p:cNvCxnSpPr/>
          <p:nvPr/>
        </p:nvCxnSpPr>
        <p:spPr>
          <a:xfrm flipH="1">
            <a:off x="2913311" y="2188461"/>
            <a:ext cx="98323" cy="133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4ED485-7CB3-4643-A0A1-4F812D987458}"/>
              </a:ext>
            </a:extLst>
          </p:cNvPr>
          <p:cNvSpPr txBox="1"/>
          <p:nvPr/>
        </p:nvSpPr>
        <p:spPr>
          <a:xfrm>
            <a:off x="3334284" y="3077498"/>
            <a:ext cx="594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core</a:t>
            </a:r>
            <a:endParaRPr lang="zh-TW" alt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25C145-B4D8-4A7A-8CCF-859B912B96A4}"/>
              </a:ext>
            </a:extLst>
          </p:cNvPr>
          <p:cNvCxnSpPr/>
          <p:nvPr/>
        </p:nvCxnSpPr>
        <p:spPr>
          <a:xfrm flipH="1" flipV="1">
            <a:off x="3235325" y="3004360"/>
            <a:ext cx="119349" cy="146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0C273D3-ADBC-45C6-85AA-3C1F4D80395A}"/>
              </a:ext>
            </a:extLst>
          </p:cNvPr>
          <p:cNvSpPr txBox="1"/>
          <p:nvPr/>
        </p:nvSpPr>
        <p:spPr>
          <a:xfrm>
            <a:off x="4301868" y="646683"/>
            <a:ext cx="313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Core-collapse 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</a:rPr>
              <a:t>(terminate the simulation here)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34FA25-7DDD-4F80-9070-45E7F93DDBE1}"/>
              </a:ext>
            </a:extLst>
          </p:cNvPr>
          <p:cNvCxnSpPr/>
          <p:nvPr/>
        </p:nvCxnSpPr>
        <p:spPr>
          <a:xfrm flipH="1">
            <a:off x="4301868" y="1247856"/>
            <a:ext cx="101494" cy="150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4BC9B9F-B21D-ABA7-94BE-DD92AF54C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972" y="1113270"/>
            <a:ext cx="4200028" cy="3249832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D8A73E3-92EE-B898-F71E-AEFC4A92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C788-D797-5E48-ACB2-C78B567F1C5B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502D83-EA76-B289-D334-ADD7AB6F76EC}"/>
              </a:ext>
            </a:extLst>
          </p:cNvPr>
          <p:cNvSpPr txBox="1"/>
          <p:nvPr/>
        </p:nvSpPr>
        <p:spPr>
          <a:xfrm>
            <a:off x="5970427" y="382187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en-US" dirty="0" err="1"/>
              <a:t>Gyr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25041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EE76E0-68C1-76F9-48ED-0BE5C6E5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C788-D797-5E48-ACB2-C78B567F1C5B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E8BAE-EE5D-4A0C-F19E-1B4507DEE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4" y="2426443"/>
            <a:ext cx="5091795" cy="4377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9CB19-2D44-7F90-28EA-39B027910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296" y="2460043"/>
            <a:ext cx="5534751" cy="44141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B58123-D76F-6BC0-FB33-FDA054CEC447}"/>
              </a:ext>
            </a:extLst>
          </p:cNvPr>
          <p:cNvSpPr txBox="1"/>
          <p:nvPr/>
        </p:nvSpPr>
        <p:spPr>
          <a:xfrm>
            <a:off x="1731981" y="2019455"/>
            <a:ext cx="3029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Subhalos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’ inner mass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DD14B5-AA29-648F-DFD9-44F727259CBB}"/>
              </a:ext>
            </a:extLst>
          </p:cNvPr>
          <p:cNvSpPr txBox="1"/>
          <p:nvPr/>
        </p:nvSpPr>
        <p:spPr>
          <a:xfrm>
            <a:off x="7973364" y="1998378"/>
            <a:ext cx="3038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Subhalos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’ inner slope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9394C-4DE2-532B-4437-076F3BF019BB}"/>
                  </a:ext>
                </a:extLst>
              </p:cNvPr>
              <p:cNvSpPr txBox="1"/>
              <p:nvPr/>
            </p:nvSpPr>
            <p:spPr>
              <a:xfrm>
                <a:off x="5269227" y="243238"/>
                <a:ext cx="2450158" cy="800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300" dirty="0">
                    <a:solidFill>
                      <a:srgbClr val="FF0000"/>
                    </a:solidFill>
                  </a:rPr>
                  <a:t>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3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300" dirty="0">
                    <a:solidFill>
                      <a:srgbClr val="FF0000"/>
                    </a:solidFill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chemeClr val="accent5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300" b="0" i="1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=200,</m:t>
                      </m:r>
                      <m:r>
                        <a:rPr lang="en-US" sz="2300" b="0" i="1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300" b="0" i="1" smtClean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US" sz="2300" dirty="0">
                  <a:solidFill>
                    <a:srgbClr val="FF66CC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9394C-4DE2-532B-4437-076F3BF01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227" y="243238"/>
                <a:ext cx="2450158" cy="800219"/>
              </a:xfrm>
              <a:prstGeom prst="rect">
                <a:avLst/>
              </a:prstGeom>
              <a:blipFill>
                <a:blip r:embed="rId4"/>
                <a:stretch>
                  <a:fillRect l="-3483" t="-5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94B419A-1BAB-C12F-27DB-B3B3F07C8DB8}"/>
              </a:ext>
            </a:extLst>
          </p:cNvPr>
          <p:cNvSpPr txBox="1"/>
          <p:nvPr/>
        </p:nvSpPr>
        <p:spPr>
          <a:xfrm>
            <a:off x="7880823" y="224139"/>
            <a:ext cx="42027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Cored </a:t>
            </a:r>
            <a:r>
              <a:rPr lang="en-US" sz="2200" dirty="0" err="1">
                <a:solidFill>
                  <a:srgbClr val="FF0000"/>
                </a:solidFill>
              </a:rPr>
              <a:t>subhalos</a:t>
            </a:r>
            <a:r>
              <a:rPr lang="en-US" sz="2200" dirty="0">
                <a:solidFill>
                  <a:srgbClr val="FF0000"/>
                </a:solidFill>
              </a:rPr>
              <a:t>, evaporation</a:t>
            </a:r>
          </a:p>
          <a:p>
            <a:r>
              <a:rPr lang="en-US" sz="2200" dirty="0">
                <a:solidFill>
                  <a:srgbClr val="FF66CC"/>
                </a:solidFill>
              </a:rPr>
              <a:t>10-20% </a:t>
            </a:r>
            <a:r>
              <a:rPr lang="en-US" sz="2200" dirty="0" err="1">
                <a:solidFill>
                  <a:srgbClr val="FF66CC"/>
                </a:solidFill>
              </a:rPr>
              <a:t>subhalos</a:t>
            </a:r>
            <a:r>
              <a:rPr lang="en-US" sz="2200" dirty="0">
                <a:solidFill>
                  <a:srgbClr val="FF66CC"/>
                </a:solidFill>
              </a:rPr>
              <a:t> core-collapsed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A018D4-5C7B-4011-580A-2C17CF0C4DEF}"/>
              </a:ext>
            </a:extLst>
          </p:cNvPr>
          <p:cNvSpPr txBox="1"/>
          <p:nvPr/>
        </p:nvSpPr>
        <p:spPr>
          <a:xfrm>
            <a:off x="207967" y="88007"/>
            <a:ext cx="43381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Population of </a:t>
            </a:r>
            <a:r>
              <a:rPr lang="en-US" sz="4000" dirty="0" err="1"/>
              <a:t>subhalos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40F09-9245-B62B-0E66-BEDCFD75880B}"/>
              </a:ext>
            </a:extLst>
          </p:cNvPr>
          <p:cNvSpPr txBox="1"/>
          <p:nvPr/>
        </p:nvSpPr>
        <p:spPr>
          <a:xfrm>
            <a:off x="3246530" y="1104092"/>
            <a:ext cx="7677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Main features of core-collapse happening:</a:t>
            </a:r>
          </a:p>
          <a:p>
            <a:r>
              <a:rPr lang="en-US" sz="2400" dirty="0"/>
              <a:t> (near the center) </a:t>
            </a:r>
            <a:r>
              <a:rPr lang="en-US" sz="2400" b="1" dirty="0"/>
              <a:t>denser, hotter, steeper density slope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9F89C-17A4-7D34-21D3-2A397E6AF60A}"/>
              </a:ext>
            </a:extLst>
          </p:cNvPr>
          <p:cNvSpPr txBox="1"/>
          <p:nvPr/>
        </p:nvSpPr>
        <p:spPr>
          <a:xfrm>
            <a:off x="5368413" y="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CDM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A9848A-3D02-09EB-3B55-1E1F5D9F19AD}"/>
              </a:ext>
            </a:extLst>
          </p:cNvPr>
          <p:cNvSpPr txBox="1"/>
          <p:nvPr/>
        </p:nvSpPr>
        <p:spPr>
          <a:xfrm>
            <a:off x="11658600" y="-7010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7E669F-C870-61F4-FCAF-A0C55BD05706}"/>
              </a:ext>
            </a:extLst>
          </p:cNvPr>
          <p:cNvSpPr txBox="1"/>
          <p:nvPr/>
        </p:nvSpPr>
        <p:spPr>
          <a:xfrm>
            <a:off x="11658600" y="-12649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569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41F7C8-C012-BA15-F0AB-3FAA5CCAD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C788-D797-5E48-ACB2-C78B567F1C5B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9ABEF-57EB-6E94-7A56-7F81BBF1706C}"/>
              </a:ext>
            </a:extLst>
          </p:cNvPr>
          <p:cNvSpPr txBox="1"/>
          <p:nvPr/>
        </p:nvSpPr>
        <p:spPr>
          <a:xfrm>
            <a:off x="7838375" y="1982450"/>
            <a:ext cx="39940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SIDM core-collapse in </a:t>
            </a:r>
            <a:r>
              <a:rPr lang="en-US" sz="2200" dirty="0" err="1"/>
              <a:t>subhalos</a:t>
            </a:r>
            <a:r>
              <a:rPr lang="en-US" sz="2200" dirty="0"/>
              <a:t> can explain ultra-steep inner slope in </a:t>
            </a:r>
            <a:r>
              <a:rPr lang="en-US" sz="2200" dirty="0" err="1"/>
              <a:t>subhalos</a:t>
            </a:r>
            <a:r>
              <a:rPr lang="en-US" sz="2200" dirty="0"/>
              <a:t> found by lensing with HST (13 images)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D501B3-8285-CA0A-AC0A-325E9EA5B4DD}"/>
              </a:ext>
            </a:extLst>
          </p:cNvPr>
          <p:cNvSpPr txBox="1"/>
          <p:nvPr/>
        </p:nvSpPr>
        <p:spPr>
          <a:xfrm>
            <a:off x="10146747" y="3489880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Zhang+ 2308.09739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1C58E4-6A1C-DB33-1E94-B65FB1A33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135" y="1589665"/>
            <a:ext cx="6253619" cy="47666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D201B1-1CD8-AC17-BECC-E2DB21F980CF}"/>
              </a:ext>
            </a:extLst>
          </p:cNvPr>
          <p:cNvSpPr txBox="1"/>
          <p:nvPr/>
        </p:nvSpPr>
        <p:spPr>
          <a:xfrm>
            <a:off x="207967" y="88007"/>
            <a:ext cx="43381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Population of </a:t>
            </a:r>
            <a:r>
              <a:rPr lang="en-US" sz="4000" dirty="0" err="1"/>
              <a:t>subhalos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993D9-FB78-1637-2BC3-C21E18CAA0C1}"/>
              </a:ext>
            </a:extLst>
          </p:cNvPr>
          <p:cNvSpPr txBox="1"/>
          <p:nvPr/>
        </p:nvSpPr>
        <p:spPr>
          <a:xfrm>
            <a:off x="5978013" y="6243484"/>
            <a:ext cx="1109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t=9Gyr</a:t>
            </a:r>
          </a:p>
        </p:txBody>
      </p:sp>
    </p:spTree>
    <p:extLst>
      <p:ext uri="{BB962C8B-B14F-4D97-AF65-F5344CB8AC3E}">
        <p14:creationId xmlns:p14="http://schemas.microsoft.com/office/powerpoint/2010/main" val="312587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city&#10;&#10;Description automatically generated with medium confidence">
            <a:extLst>
              <a:ext uri="{FF2B5EF4-FFF2-40B4-BE49-F238E27FC236}">
                <a16:creationId xmlns:a16="http://schemas.microsoft.com/office/drawing/2014/main" id="{E7F1986B-09CD-988E-676A-D1F6A1BE3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896" y="1843318"/>
            <a:ext cx="7536138" cy="50146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1B0291-5B3A-3F6F-1E65-3E39E1A9F18E}"/>
              </a:ext>
            </a:extLst>
          </p:cNvPr>
          <p:cNvSpPr txBox="1"/>
          <p:nvPr/>
        </p:nvSpPr>
        <p:spPr>
          <a:xfrm>
            <a:off x="156450" y="10733"/>
            <a:ext cx="72231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Subhalos</a:t>
            </a:r>
            <a:r>
              <a:rPr lang="en-US" sz="4000" dirty="0"/>
              <a:t> vs. in-field halos: acceleration or deceleration?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0F365-B698-3912-6B3B-CEA83C2C74B8}"/>
              </a:ext>
            </a:extLst>
          </p:cNvPr>
          <p:cNvSpPr txBox="1"/>
          <p:nvPr/>
        </p:nvSpPr>
        <p:spPr>
          <a:xfrm>
            <a:off x="6793869" y="1286690"/>
            <a:ext cx="1731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accelerate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9F469-EF9C-3A45-BE9D-5156970F8582}"/>
              </a:ext>
            </a:extLst>
          </p:cNvPr>
          <p:cNvSpPr txBox="1"/>
          <p:nvPr/>
        </p:nvSpPr>
        <p:spPr>
          <a:xfrm>
            <a:off x="5168506" y="1295534"/>
            <a:ext cx="15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decelerate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0513CFB-2F4B-0412-DF32-2CA90BD646EC}"/>
              </a:ext>
            </a:extLst>
          </p:cNvPr>
          <p:cNvSpPr/>
          <p:nvPr/>
        </p:nvSpPr>
        <p:spPr>
          <a:xfrm>
            <a:off x="6915953" y="1612486"/>
            <a:ext cx="824248" cy="230832"/>
          </a:xfrm>
          <a:prstGeom prst="right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2BD61E6C-CD9F-84A6-B9CC-5ACC2BF51541}"/>
              </a:ext>
            </a:extLst>
          </p:cNvPr>
          <p:cNvSpPr/>
          <p:nvPr/>
        </p:nvSpPr>
        <p:spPr>
          <a:xfrm rot="10800000">
            <a:off x="5793346" y="1610338"/>
            <a:ext cx="824248" cy="23083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00CBF0-35CC-1F27-4623-3AC31CA1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746B95-677F-02E6-F7F6-C22FF9A5E0F8}"/>
                  </a:ext>
                </a:extLst>
              </p:cNvPr>
              <p:cNvSpPr txBox="1"/>
              <p:nvPr/>
            </p:nvSpPr>
            <p:spPr>
              <a:xfrm>
                <a:off x="8610600" y="6042959"/>
                <a:ext cx="34590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Acceleration factor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</m:oMath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746B95-677F-02E6-F7F6-C22FF9A5E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6042959"/>
                <a:ext cx="3459024" cy="461665"/>
              </a:xfrm>
              <a:prstGeom prst="rect">
                <a:avLst/>
              </a:prstGeom>
              <a:blipFill>
                <a:blip r:embed="rId3"/>
                <a:stretch>
                  <a:fillRect l="-282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5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12952D4-1680-90D2-588C-8D128554ADE0}"/>
              </a:ext>
            </a:extLst>
          </p:cNvPr>
          <p:cNvGrpSpPr/>
          <p:nvPr/>
        </p:nvGrpSpPr>
        <p:grpSpPr>
          <a:xfrm>
            <a:off x="0" y="1430844"/>
            <a:ext cx="6202464" cy="5427156"/>
            <a:chOff x="643944" y="1430844"/>
            <a:chExt cx="6202464" cy="5427156"/>
          </a:xfrm>
        </p:grpSpPr>
        <p:pic>
          <p:nvPicPr>
            <p:cNvPr id="4" name="Picture 3" descr="A picture containing text, diagram, line, plot&#10;&#10;Description automatically generated">
              <a:extLst>
                <a:ext uri="{FF2B5EF4-FFF2-40B4-BE49-F238E27FC236}">
                  <a16:creationId xmlns:a16="http://schemas.microsoft.com/office/drawing/2014/main" id="{0E4A2E14-BA78-3C8A-DE29-0952BBBF2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944" y="1430844"/>
              <a:ext cx="6202464" cy="542715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F4344A-93B9-2AD2-21FA-5C3510A9371A}"/>
                </a:ext>
              </a:extLst>
            </p:cNvPr>
            <p:cNvSpPr txBox="1"/>
            <p:nvPr/>
          </p:nvSpPr>
          <p:spPr>
            <a:xfrm>
              <a:off x="4206352" y="2216942"/>
              <a:ext cx="16485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c.-c.  in massive subs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C76B43A-F844-DEB2-F2DE-E79221D52425}"/>
                </a:ext>
              </a:extLst>
            </p:cNvPr>
            <p:cNvSpPr/>
            <p:nvPr/>
          </p:nvSpPr>
          <p:spPr>
            <a:xfrm>
              <a:off x="5157596" y="2040360"/>
              <a:ext cx="1015330" cy="191398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7FA8067-94FE-A06A-85DB-9EF11548FB3C}"/>
                </a:ext>
              </a:extLst>
            </p:cNvPr>
            <p:cNvSpPr/>
            <p:nvPr/>
          </p:nvSpPr>
          <p:spPr>
            <a:xfrm>
              <a:off x="5140348" y="4317718"/>
              <a:ext cx="1015330" cy="191398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F08B74-40FB-707D-A0C9-473794399CBC}"/>
                </a:ext>
              </a:extLst>
            </p:cNvPr>
            <p:cNvSpPr txBox="1"/>
            <p:nvPr/>
          </p:nvSpPr>
          <p:spPr>
            <a:xfrm>
              <a:off x="3760524" y="5344255"/>
              <a:ext cx="20943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 c.-c. or c.-c. in small </a:t>
              </a:r>
              <a:r>
                <a:rPr lang="en-US" dirty="0" err="1"/>
                <a:t>subhalos</a:t>
              </a:r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E95304-FEBF-4D15-F0D6-791AD69A0810}"/>
              </a:ext>
            </a:extLst>
          </p:cNvPr>
          <p:cNvGrpSpPr/>
          <p:nvPr/>
        </p:nvGrpSpPr>
        <p:grpSpPr>
          <a:xfrm>
            <a:off x="5679583" y="1366449"/>
            <a:ext cx="6656102" cy="5497663"/>
            <a:chOff x="5588400" y="1354860"/>
            <a:chExt cx="6734406" cy="5573647"/>
          </a:xfrm>
        </p:grpSpPr>
        <p:pic>
          <p:nvPicPr>
            <p:cNvPr id="13" name="Picture 12" descr="A picture containing text, diagram, line, plot&#10;&#10;Description automatically generated">
              <a:extLst>
                <a:ext uri="{FF2B5EF4-FFF2-40B4-BE49-F238E27FC236}">
                  <a16:creationId xmlns:a16="http://schemas.microsoft.com/office/drawing/2014/main" id="{E7D80ABA-BA8B-070F-F6B2-24B879956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8400" y="1354860"/>
              <a:ext cx="6369884" cy="5573647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05E8663-7DFE-2420-4A5F-CF6D7E6F4187}"/>
                </a:ext>
              </a:extLst>
            </p:cNvPr>
            <p:cNvSpPr txBox="1"/>
            <p:nvPr/>
          </p:nvSpPr>
          <p:spPr>
            <a:xfrm>
              <a:off x="8940507" y="2653177"/>
              <a:ext cx="631683" cy="374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c.-c.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F2D1CF0-6BF8-47B7-D4DC-9B13F3AD4B70}"/>
                </a:ext>
              </a:extLst>
            </p:cNvPr>
            <p:cNvCxnSpPr/>
            <p:nvPr/>
          </p:nvCxnSpPr>
          <p:spPr>
            <a:xfrm>
              <a:off x="9307875" y="3110542"/>
              <a:ext cx="138023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EF7FA2C-B060-E917-40F1-524971BC4DC6}"/>
                </a:ext>
              </a:extLst>
            </p:cNvPr>
            <p:cNvCxnSpPr>
              <a:cxnSpLocks/>
            </p:cNvCxnSpPr>
            <p:nvPr/>
          </p:nvCxnSpPr>
          <p:spPr>
            <a:xfrm>
              <a:off x="9307875" y="3020148"/>
              <a:ext cx="734683" cy="9487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EE8A639-1495-C953-CC88-91E49FD9C9DD}"/>
                </a:ext>
              </a:extLst>
            </p:cNvPr>
            <p:cNvSpPr txBox="1"/>
            <p:nvPr/>
          </p:nvSpPr>
          <p:spPr>
            <a:xfrm>
              <a:off x="10870693" y="3567742"/>
              <a:ext cx="14521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Low-fraction core-collapse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240662-EB63-B271-8A23-82FA0F53C5B2}"/>
                </a:ext>
              </a:extLst>
            </p:cNvPr>
            <p:cNvSpPr txBox="1"/>
            <p:nvPr/>
          </p:nvSpPr>
          <p:spPr>
            <a:xfrm>
              <a:off x="10112698" y="5758468"/>
              <a:ext cx="1733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Small sub center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CBE991E-A32A-1229-D614-EE35DCF51D8E}"/>
                </a:ext>
              </a:extLst>
            </p:cNvPr>
            <p:cNvSpPr txBox="1"/>
            <p:nvPr/>
          </p:nvSpPr>
          <p:spPr>
            <a:xfrm>
              <a:off x="8058169" y="5727430"/>
              <a:ext cx="1984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Massive sub center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294DC7-8E35-49F2-1FF8-D7F0EFB5F682}"/>
                </a:ext>
              </a:extLst>
            </p:cNvPr>
            <p:cNvSpPr txBox="1"/>
            <p:nvPr/>
          </p:nvSpPr>
          <p:spPr>
            <a:xfrm>
              <a:off x="5936470" y="5705716"/>
              <a:ext cx="19117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>
                      <a:lumMod val="75000"/>
                    </a:schemeClr>
                  </a:solidFill>
                </a:rPr>
                <a:t>Subhalo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bg1">
                      <a:lumMod val="75000"/>
                    </a:schemeClr>
                  </a:solidFill>
                </a:rPr>
                <a:t>outlayer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 &amp; 2-halo term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AAF0FF-E795-D07F-745D-52548CF84B69}"/>
                </a:ext>
              </a:extLst>
            </p:cNvPr>
            <p:cNvSpPr txBox="1"/>
            <p:nvPr/>
          </p:nvSpPr>
          <p:spPr>
            <a:xfrm>
              <a:off x="10559454" y="4860404"/>
              <a:ext cx="622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Core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B964A46-BE61-6E38-0103-0F6EE38CEDC8}"/>
                </a:ext>
              </a:extLst>
            </p:cNvPr>
            <p:cNvCxnSpPr/>
            <p:nvPr/>
          </p:nvCxnSpPr>
          <p:spPr>
            <a:xfrm>
              <a:off x="10782992" y="5247879"/>
              <a:ext cx="0" cy="2634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CE25FAC-2DD0-2134-18E6-2810CBFFBF08}"/>
                </a:ext>
              </a:extLst>
            </p:cNvPr>
            <p:cNvCxnSpPr>
              <a:stCxn id="21" idx="1"/>
            </p:cNvCxnSpPr>
            <p:nvPr/>
          </p:nvCxnSpPr>
          <p:spPr>
            <a:xfrm flipH="1">
              <a:off x="9609800" y="5045070"/>
              <a:ext cx="949654" cy="184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1BF693B-2D95-58CC-F477-8B12683D90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29415" y="4589858"/>
              <a:ext cx="330039" cy="3596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90A72E-44B8-29E5-A2CE-9AA808647145}"/>
                </a:ext>
              </a:extLst>
            </p:cNvPr>
            <p:cNvSpPr txBox="1"/>
            <p:nvPr/>
          </p:nvSpPr>
          <p:spPr>
            <a:xfrm>
              <a:off x="6470532" y="4838378"/>
              <a:ext cx="17404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Mass loss from evaporation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E158C8-506B-313E-B81E-B04F52D80D7D}"/>
              </a:ext>
            </a:extLst>
          </p:cNvPr>
          <p:cNvSpPr txBox="1"/>
          <p:nvPr/>
        </p:nvSpPr>
        <p:spPr>
          <a:xfrm>
            <a:off x="78133" y="88007"/>
            <a:ext cx="54855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Population of </a:t>
            </a:r>
            <a:r>
              <a:rPr lang="en-US" sz="4000" dirty="0" err="1"/>
              <a:t>subhalos</a:t>
            </a:r>
            <a:r>
              <a:rPr lang="en-US" sz="4000" dirty="0"/>
              <a:t>: lensing statistics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A46215-AE39-A4B4-F341-71DEE3228770}"/>
              </a:ext>
            </a:extLst>
          </p:cNvPr>
          <p:cNvSpPr txBox="1"/>
          <p:nvPr/>
        </p:nvSpPr>
        <p:spPr>
          <a:xfrm>
            <a:off x="225195" y="1492338"/>
            <a:ext cx="60863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Histogram of projected density (1-point function)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29C27D-96E7-0F35-2B7D-659E6B0F6202}"/>
              </a:ext>
            </a:extLst>
          </p:cNvPr>
          <p:cNvSpPr txBox="1"/>
          <p:nvPr/>
        </p:nvSpPr>
        <p:spPr>
          <a:xfrm>
            <a:off x="7761334" y="1462086"/>
            <a:ext cx="21323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2-point function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A87CF8-7C18-3DD9-A3A2-43944D20A2B1}"/>
              </a:ext>
            </a:extLst>
          </p:cNvPr>
          <p:cNvSpPr txBox="1"/>
          <p:nvPr/>
        </p:nvSpPr>
        <p:spPr>
          <a:xfrm>
            <a:off x="4968801" y="711297"/>
            <a:ext cx="72835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Lensing density can probe core-collapse in massive </a:t>
            </a:r>
            <a:r>
              <a:rPr lang="en-US" sz="2000" dirty="0" err="1"/>
              <a:t>subhalos</a:t>
            </a:r>
            <a:r>
              <a:rPr lang="en-US" sz="20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Higher-order term can probe c.-c. in smaller </a:t>
            </a:r>
            <a:r>
              <a:rPr lang="en-US" sz="2000" dirty="0" err="1"/>
              <a:t>subhalos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9C0CFD-A5A2-7110-2CD8-00DFC68F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60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A2D9F7-83FE-4184-A487-EE2364496F01}"/>
              </a:ext>
            </a:extLst>
          </p:cNvPr>
          <p:cNvSpPr txBox="1"/>
          <p:nvPr/>
        </p:nvSpPr>
        <p:spPr>
          <a:xfrm>
            <a:off x="78133" y="88007"/>
            <a:ext cx="70541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Dwarf satellites in SIDM </a:t>
            </a:r>
            <a:r>
              <a:rPr lang="en-US" sz="3600" dirty="0" err="1"/>
              <a:t>subhalos</a:t>
            </a:r>
            <a:r>
              <a:rPr lang="en-US" sz="3600" dirty="0"/>
              <a:t>: numerical issues of </a:t>
            </a:r>
            <a:r>
              <a:rPr lang="en-US" sz="3600" dirty="0" err="1"/>
              <a:t>DM+star</a:t>
            </a:r>
            <a:r>
              <a:rPr lang="en-US" sz="3600" dirty="0"/>
              <a:t> sims</a:t>
            </a:r>
          </a:p>
          <a:p>
            <a:endParaRPr lang="en-US" sz="3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BDB09B-8C61-6564-29CA-5CD8703FE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8475"/>
            <a:ext cx="5265420" cy="4351338"/>
          </a:xfrm>
        </p:spPr>
        <p:txBody>
          <a:bodyPr/>
          <a:lstStyle/>
          <a:p>
            <a:r>
              <a:rPr lang="en-US" dirty="0"/>
              <a:t>Two parameters to test:</a:t>
            </a:r>
          </a:p>
          <a:p>
            <a:pPr lvl="1"/>
            <a:r>
              <a:rPr lang="en-US" dirty="0"/>
              <a:t>DM particle resolution</a:t>
            </a:r>
          </a:p>
          <a:p>
            <a:pPr lvl="1"/>
            <a:r>
              <a:rPr lang="en-US" dirty="0"/>
              <a:t>DM-star particle mass ratio</a:t>
            </a:r>
          </a:p>
          <a:p>
            <a:pPr lvl="2"/>
            <a:r>
              <a:rPr lang="en-US" dirty="0"/>
              <a:t>1:1 vs 5:1 --- mass segregation</a:t>
            </a:r>
          </a:p>
          <a:p>
            <a:r>
              <a:rPr lang="en-US" dirty="0"/>
              <a:t>Two conditions to be ‘good convergence’</a:t>
            </a:r>
          </a:p>
          <a:p>
            <a:pPr lvl="1"/>
            <a:r>
              <a:rPr lang="en-US" dirty="0"/>
              <a:t>Lower resolution converges to higher resolution</a:t>
            </a:r>
          </a:p>
          <a:p>
            <a:pPr lvl="1"/>
            <a:r>
              <a:rPr lang="en-US" dirty="0"/>
              <a:t>CDM galaxy in isolation should not evolve</a:t>
            </a:r>
          </a:p>
          <a:p>
            <a:pPr lvl="1"/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7E566B-824D-6715-806B-EAB8C658F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91974"/>
              </p:ext>
            </p:extLst>
          </p:nvPr>
        </p:nvGraphicFramePr>
        <p:xfrm>
          <a:off x="4865493" y="2205867"/>
          <a:ext cx="7054188" cy="146304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351396">
                  <a:extLst>
                    <a:ext uri="{9D8B030D-6E8A-4147-A177-3AD203B41FA5}">
                      <a16:colId xmlns:a16="http://schemas.microsoft.com/office/drawing/2014/main" val="3828615860"/>
                    </a:ext>
                  </a:extLst>
                </a:gridCol>
                <a:gridCol w="2351396">
                  <a:extLst>
                    <a:ext uri="{9D8B030D-6E8A-4147-A177-3AD203B41FA5}">
                      <a16:colId xmlns:a16="http://schemas.microsoft.com/office/drawing/2014/main" val="3692967245"/>
                    </a:ext>
                  </a:extLst>
                </a:gridCol>
                <a:gridCol w="2351396">
                  <a:extLst>
                    <a:ext uri="{9D8B030D-6E8A-4147-A177-3AD203B41FA5}">
                      <a16:colId xmlns:a16="http://schemas.microsoft.com/office/drawing/2014/main" val="3346482811"/>
                    </a:ext>
                  </a:extLst>
                </a:gridCol>
              </a:tblGrid>
              <a:tr h="27929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DM particle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Star particle no. (1:1)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9548964"/>
                  </a:ext>
                </a:extLst>
              </a:tr>
              <a:tr h="2792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High-res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8.5e6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309658"/>
                  </a:ext>
                </a:extLst>
              </a:tr>
              <a:tr h="2792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Mid-res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1.7e6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780010"/>
                  </a:ext>
                </a:extLst>
              </a:tr>
              <a:tr h="2792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Low-res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3.4e5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1180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50B3BB-1EC9-C926-EB34-2E867819637B}"/>
                  </a:ext>
                </a:extLst>
              </p:cNvPr>
              <p:cNvSpPr txBox="1"/>
              <p:nvPr/>
            </p:nvSpPr>
            <p:spPr>
              <a:xfrm>
                <a:off x="4683503" y="4847303"/>
                <a:ext cx="7936083" cy="818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h𝑜𝑠𝑡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⊙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𝑠𝑢𝑏h𝑎𝑙𝑜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3∗10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⊙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=2.5∗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⊙</m:t>
                          </m:r>
                        </m:sub>
                      </m:sSub>
                    </m:oMath>
                  </m:oMathPara>
                </a14:m>
                <a:endParaRPr lang="en-US" sz="2200" b="0" dirty="0"/>
              </a:p>
              <a:p>
                <a:r>
                  <a:rPr lang="en-US" sz="2200" dirty="0"/>
                  <a:t>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200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=37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𝑘𝑝𝑐</m:t>
                    </m:r>
                  </m:oMath>
                </a14:m>
                <a:r>
                  <a:rPr lang="en-US" sz="2200" dirty="0"/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h𝑎𝑙𝑓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=0.37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𝑘𝑝𝑐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50B3BB-1EC9-C926-EB34-2E8678196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503" y="4847303"/>
                <a:ext cx="7936083" cy="818109"/>
              </a:xfrm>
              <a:prstGeom prst="rect">
                <a:avLst/>
              </a:prstGeom>
              <a:blipFill>
                <a:blip r:embed="rId2"/>
                <a:stretch>
                  <a:fillRect b="-5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6D866E-B662-D260-5F2C-56EAC34D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03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C21B1E-472E-2B0A-8077-4C85CDB90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79" y="3328952"/>
            <a:ext cx="4660041" cy="440457"/>
          </a:xfrm>
          <a:prstGeom prst="rect">
            <a:avLst/>
          </a:prstGeom>
        </p:spPr>
      </p:pic>
      <p:pic>
        <p:nvPicPr>
          <p:cNvPr id="2" name="Picture 1" descr="A graph of a number of numbers and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36AE6DDF-4137-A4B6-AC24-184EFDB82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222056"/>
            <a:ext cx="5456356" cy="3106897"/>
          </a:xfrm>
          <a:prstGeom prst="rect">
            <a:avLst/>
          </a:prstGeom>
        </p:spPr>
      </p:pic>
      <p:pic>
        <p:nvPicPr>
          <p:cNvPr id="4" name="Picture 3" descr="A graph of a number of numbers and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99FB9FE6-8B41-0BBD-FD81-812BCFF84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94" y="3769078"/>
            <a:ext cx="5332885" cy="310035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C586492C-2C77-E0DA-A5CE-93C07F1B44C4}"/>
              </a:ext>
            </a:extLst>
          </p:cNvPr>
          <p:cNvGrpSpPr/>
          <p:nvPr/>
        </p:nvGrpSpPr>
        <p:grpSpPr>
          <a:xfrm>
            <a:off x="6233750" y="2841523"/>
            <a:ext cx="5845605" cy="4006822"/>
            <a:chOff x="5778362" y="1798364"/>
            <a:chExt cx="6300994" cy="4649931"/>
          </a:xfrm>
        </p:grpSpPr>
        <p:pic>
          <p:nvPicPr>
            <p:cNvPr id="10" name="Picture 9" descr="A graph of a function&#10;&#10;Description automatically generated with medium confidence">
              <a:extLst>
                <a:ext uri="{FF2B5EF4-FFF2-40B4-BE49-F238E27FC236}">
                  <a16:creationId xmlns:a16="http://schemas.microsoft.com/office/drawing/2014/main" id="{92ABD0F0-9C78-7106-84BE-2E31B0CDE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8362" y="1798364"/>
              <a:ext cx="6300994" cy="464993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167BDF-40C9-D494-2E66-30895A7F3C5F}"/>
                </a:ext>
              </a:extLst>
            </p:cNvPr>
            <p:cNvSpPr txBox="1"/>
            <p:nvPr/>
          </p:nvSpPr>
          <p:spPr>
            <a:xfrm>
              <a:off x="8668819" y="1908810"/>
              <a:ext cx="5200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I.C.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326479A-7794-1975-89B9-10E9F64A2E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5290" y="2093476"/>
              <a:ext cx="633529" cy="2953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A425070-47CF-500F-BC30-7A65F9911B06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9188898" y="2093476"/>
              <a:ext cx="778062" cy="369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8830C85-DF1C-82F2-A840-B96BD9BE863D}"/>
                  </a:ext>
                </a:extLst>
              </p:cNvPr>
              <p:cNvSpPr txBox="1"/>
              <p:nvPr/>
            </p:nvSpPr>
            <p:spPr>
              <a:xfrm>
                <a:off x="8326395" y="2522841"/>
                <a:ext cx="1559722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𝑠𝑜𝑓𝑡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 regions</a:t>
                </a:r>
              </a:p>
              <a:p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8830C85-DF1C-82F2-A840-B96BD9BE8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395" y="2522841"/>
                <a:ext cx="1559722" cy="668581"/>
              </a:xfrm>
              <a:prstGeom prst="rect">
                <a:avLst/>
              </a:prstGeom>
              <a:blipFill>
                <a:blip r:embed="rId6"/>
                <a:stretch>
                  <a:fillRect l="-3516" t="-3636" r="-2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382A914-6F79-3360-04E3-1C88E2C17B71}"/>
              </a:ext>
            </a:extLst>
          </p:cNvPr>
          <p:cNvSpPr txBox="1"/>
          <p:nvPr/>
        </p:nvSpPr>
        <p:spPr>
          <a:xfrm>
            <a:off x="2388870" y="342900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Isolated CDM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4963E9-FF10-20F3-0C42-FDF475C98A46}"/>
              </a:ext>
            </a:extLst>
          </p:cNvPr>
          <p:cNvSpPr txBox="1"/>
          <p:nvPr/>
        </p:nvSpPr>
        <p:spPr>
          <a:xfrm>
            <a:off x="2388870" y="3936877"/>
            <a:ext cx="1531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CDM satellite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06332E-0FA7-D0C7-013C-89D58D6417D9}"/>
                  </a:ext>
                </a:extLst>
              </p:cNvPr>
              <p:cNvSpPr txBox="1"/>
              <p:nvPr/>
            </p:nvSpPr>
            <p:spPr>
              <a:xfrm>
                <a:off x="5845286" y="262473"/>
                <a:ext cx="6434591" cy="2628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mbria Math" panose="02040503050406030204" pitchFamily="18" charset="0"/>
                  </a:rPr>
                  <a:t>Insufficient resolution is the major systematics, mass segregation plays a second order role</a:t>
                </a:r>
                <a:endParaRPr lang="en-US" sz="20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𝑠𝑜𝑓𝑡</m:t>
                        </m:r>
                      </m:sub>
                    </m:sSub>
                  </m:oMath>
                </a14:m>
                <a:r>
                  <a:rPr lang="en-US" sz="2000" dirty="0"/>
                  <a:t> set according to </a:t>
                </a:r>
                <a:r>
                  <a:rPr lang="en-US" sz="2000" dirty="0" err="1"/>
                  <a:t>vdB</a:t>
                </a:r>
                <a:r>
                  <a:rPr lang="en-US" sz="2000" dirty="0"/>
                  <a:t>+ 2018 (also OK for SIDM, Mace+2024)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Conventionally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&lt;3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𝑠𝑜𝑓𝑡</m:t>
                        </m:r>
                      </m:sub>
                    </m:sSub>
                  </m:oMath>
                </a14:m>
                <a:r>
                  <a:rPr lang="en-US" sz="2000" dirty="0"/>
                  <a:t> considered untrustworthy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…probably need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𝑠𝑜𝑓𝑡</m:t>
                        </m:r>
                      </m:sub>
                    </m:sSub>
                  </m:oMath>
                </a14:m>
                <a:r>
                  <a:rPr lang="en-US" sz="2000" dirty="0"/>
                  <a:t> smaller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h𝑎𝑙𝑓</m:t>
                        </m:r>
                      </m:sub>
                    </m:sSub>
                  </m:oMath>
                </a14:m>
                <a:r>
                  <a:rPr lang="en-US" sz="2000" dirty="0"/>
                  <a:t> by a factor of a few times --- which is </a:t>
                </a:r>
                <a:r>
                  <a:rPr lang="en-US" sz="2000" dirty="0">
                    <a:solidFill>
                      <a:srgbClr val="FF0000"/>
                    </a:solidFill>
                  </a:rPr>
                  <a:t>~1e7 particles for one dwarf satellite</a:t>
                </a:r>
                <a:r>
                  <a:rPr lang="en-US" sz="2000" dirty="0"/>
                  <a:t>!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06332E-0FA7-D0C7-013C-89D58D641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286" y="262473"/>
                <a:ext cx="6434591" cy="2628412"/>
              </a:xfrm>
              <a:prstGeom prst="rect">
                <a:avLst/>
              </a:prstGeom>
              <a:blipFill>
                <a:blip r:embed="rId7"/>
                <a:stretch>
                  <a:fillRect l="-853" t="-1160" r="-1611" b="-3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483F20-CBFE-3B25-3AB4-5465F0FA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66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F554EFA-7B9F-A5BA-8320-7DD30DDD6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569" y="3340382"/>
            <a:ext cx="4385721" cy="414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5A0B14-5D3B-3C46-DD96-84E567FA4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3719019"/>
            <a:ext cx="5198313" cy="3138981"/>
          </a:xfrm>
          <a:prstGeom prst="rect">
            <a:avLst/>
          </a:prstGeom>
        </p:spPr>
      </p:pic>
      <p:pic>
        <p:nvPicPr>
          <p:cNvPr id="7" name="Picture 6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5935C1AB-1A7E-279D-4F68-D2D7C7ADB2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87" y="240623"/>
            <a:ext cx="5070505" cy="3119797"/>
          </a:xfrm>
          <a:prstGeom prst="rect">
            <a:avLst/>
          </a:prstGeom>
        </p:spPr>
      </p:pic>
      <p:pic>
        <p:nvPicPr>
          <p:cNvPr id="9" name="Picture 8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74054A22-B767-022F-C096-76A5F5958B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871" y="171757"/>
            <a:ext cx="5376118" cy="3620791"/>
          </a:xfrm>
          <a:prstGeom prst="rect">
            <a:avLst/>
          </a:prstGeom>
        </p:spPr>
      </p:pic>
      <p:pic>
        <p:nvPicPr>
          <p:cNvPr id="12" name="Picture 11" descr="A close-up of a black text&#10;&#10;Description automatically generated">
            <a:extLst>
              <a:ext uri="{FF2B5EF4-FFF2-40B4-BE49-F238E27FC236}">
                <a16:creationId xmlns:a16="http://schemas.microsoft.com/office/drawing/2014/main" id="{FB698DA9-E8A9-4A55-2B73-DFF7BDB0C3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824" y="4161004"/>
            <a:ext cx="1744505" cy="8008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0F8AA7-F49F-F171-C849-08FD8CBFC7FC}"/>
              </a:ext>
            </a:extLst>
          </p:cNvPr>
          <p:cNvSpPr txBox="1"/>
          <p:nvPr/>
        </p:nvSpPr>
        <p:spPr>
          <a:xfrm>
            <a:off x="2341865" y="320040"/>
            <a:ext cx="2429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SIDM isolated/satellite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065C5E-243E-AEF3-9252-488111D7F829}"/>
              </a:ext>
            </a:extLst>
          </p:cNvPr>
          <p:cNvSpPr txBox="1"/>
          <p:nvPr/>
        </p:nvSpPr>
        <p:spPr>
          <a:xfrm>
            <a:off x="6096000" y="4057402"/>
            <a:ext cx="599694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SIDM has resolution requirement similar to CDM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Convergence in </a:t>
            </a:r>
            <a:r>
              <a:rPr lang="en-US" sz="2200" dirty="0" err="1"/>
              <a:t>subhalo</a:t>
            </a:r>
            <a:r>
              <a:rPr lang="en-US" sz="2200" dirty="0"/>
              <a:t> virial radius scale doesn’t guarantee convergence in its inner galaxy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Inner mass is more robustly measured </a:t>
            </a:r>
            <a:r>
              <a:rPr lang="en-US" sz="2200" dirty="0">
                <a:sym typeface="Wingdings" pitchFamily="2" charset="2"/>
              </a:rPr>
              <a:t> tidal tracks?</a:t>
            </a:r>
            <a:endParaRPr lang="en-US" sz="2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58E2F2-1C4E-379B-6634-8B7FE6DA7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87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1789A2-64BA-EA45-1DEF-88B3981354AD}"/>
              </a:ext>
            </a:extLst>
          </p:cNvPr>
          <p:cNvSpPr txBox="1"/>
          <p:nvPr/>
        </p:nvSpPr>
        <p:spPr>
          <a:xfrm>
            <a:off x="898297" y="2951490"/>
            <a:ext cx="105721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Resolution -- the eternal pain of simulators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5B6890-7E8A-AB66-651A-30E89F6A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21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DA1D6F-F22C-6F3C-F258-398FE6756B30}"/>
              </a:ext>
            </a:extLst>
          </p:cNvPr>
          <p:cNvSpPr txBox="1"/>
          <p:nvPr/>
        </p:nvSpPr>
        <p:spPr>
          <a:xfrm>
            <a:off x="648402" y="365180"/>
            <a:ext cx="103932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How do stars respond to SIDM core to core-collapse and orbital effects?</a:t>
            </a:r>
          </a:p>
          <a:p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0A68FC4-96BA-88F1-47F0-F69EC3E843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3275588"/>
                  </p:ext>
                </p:extLst>
              </p:nvPr>
            </p:nvGraphicFramePr>
            <p:xfrm>
              <a:off x="2024919" y="2795136"/>
              <a:ext cx="7499956" cy="2220532"/>
            </p:xfrm>
            <a:graphic>
              <a:graphicData uri="http://schemas.openxmlformats.org/drawingml/2006/table">
                <a:tbl>
                  <a:tblPr firstRow="1">
                    <a:tableStyleId>{616DA210-FB5B-4158-B5E0-FEB733F419BA}</a:tableStyleId>
                  </a:tblPr>
                  <a:tblGrid>
                    <a:gridCol w="1757098">
                      <a:extLst>
                        <a:ext uri="{9D8B030D-6E8A-4147-A177-3AD203B41FA5}">
                          <a16:colId xmlns:a16="http://schemas.microsoft.com/office/drawing/2014/main" val="3225327624"/>
                        </a:ext>
                      </a:extLst>
                    </a:gridCol>
                    <a:gridCol w="1903639">
                      <a:extLst>
                        <a:ext uri="{9D8B030D-6E8A-4147-A177-3AD203B41FA5}">
                          <a16:colId xmlns:a16="http://schemas.microsoft.com/office/drawing/2014/main" val="3763900876"/>
                        </a:ext>
                      </a:extLst>
                    </a:gridCol>
                    <a:gridCol w="2197303">
                      <a:extLst>
                        <a:ext uri="{9D8B030D-6E8A-4147-A177-3AD203B41FA5}">
                          <a16:colId xmlns:a16="http://schemas.microsoft.com/office/drawing/2014/main" val="1697066558"/>
                        </a:ext>
                      </a:extLst>
                    </a:gridCol>
                    <a:gridCol w="1641916">
                      <a:extLst>
                        <a:ext uri="{9D8B030D-6E8A-4147-A177-3AD203B41FA5}">
                          <a16:colId xmlns:a16="http://schemas.microsoft.com/office/drawing/2014/main" val="3317148263"/>
                        </a:ext>
                      </a:extLst>
                    </a:gridCol>
                  </a:tblGrid>
                  <a:tr h="366502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Inner DM mass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Inner stellar mass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Stellar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𝒉𝒂𝒍𝒇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03517043"/>
                      </a:ext>
                    </a:extLst>
                  </a:tr>
                  <a:tr h="346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Core-creation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49331"/>
                      </a:ext>
                    </a:extLst>
                  </a:tr>
                  <a:tr h="346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Core-collapse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546733217"/>
                      </a:ext>
                    </a:extLst>
                  </a:tr>
                  <a:tr h="346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Tidal stripping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521691762"/>
                      </a:ext>
                    </a:extLst>
                  </a:tr>
                  <a:tr h="346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Evaporation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---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 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(later)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  ++ </a:t>
                          </a:r>
                          <a:r>
                            <a:rPr lang="en-US" sz="2200" dirty="0"/>
                            <a:t>then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94008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0A68FC4-96BA-88F1-47F0-F69EC3E843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3275588"/>
                  </p:ext>
                </p:extLst>
              </p:nvPr>
            </p:nvGraphicFramePr>
            <p:xfrm>
              <a:off x="2024919" y="2795136"/>
              <a:ext cx="7499956" cy="2220532"/>
            </p:xfrm>
            <a:graphic>
              <a:graphicData uri="http://schemas.openxmlformats.org/drawingml/2006/table">
                <a:tbl>
                  <a:tblPr firstRow="1">
                    <a:tableStyleId>{616DA210-FB5B-4158-B5E0-FEB733F419BA}</a:tableStyleId>
                  </a:tblPr>
                  <a:tblGrid>
                    <a:gridCol w="1757098">
                      <a:extLst>
                        <a:ext uri="{9D8B030D-6E8A-4147-A177-3AD203B41FA5}">
                          <a16:colId xmlns:a16="http://schemas.microsoft.com/office/drawing/2014/main" val="3225327624"/>
                        </a:ext>
                      </a:extLst>
                    </a:gridCol>
                    <a:gridCol w="1903639">
                      <a:extLst>
                        <a:ext uri="{9D8B030D-6E8A-4147-A177-3AD203B41FA5}">
                          <a16:colId xmlns:a16="http://schemas.microsoft.com/office/drawing/2014/main" val="3763900876"/>
                        </a:ext>
                      </a:extLst>
                    </a:gridCol>
                    <a:gridCol w="2197303">
                      <a:extLst>
                        <a:ext uri="{9D8B030D-6E8A-4147-A177-3AD203B41FA5}">
                          <a16:colId xmlns:a16="http://schemas.microsoft.com/office/drawing/2014/main" val="1697066558"/>
                        </a:ext>
                      </a:extLst>
                    </a:gridCol>
                    <a:gridCol w="1641916">
                      <a:extLst>
                        <a:ext uri="{9D8B030D-6E8A-4147-A177-3AD203B41FA5}">
                          <a16:colId xmlns:a16="http://schemas.microsoft.com/office/drawing/2014/main" val="3317148263"/>
                        </a:ext>
                      </a:extLst>
                    </a:gridCol>
                  </a:tblGrid>
                  <a:tr h="391732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Inner DM mass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Inner stellar mass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357621" t="-6250" r="-743" b="-5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5170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Core-creation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493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Core-collapse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54673321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Tidal stripping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52169176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Evaporation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---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 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(later)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  ++ </a:t>
                          </a:r>
                          <a:r>
                            <a:rPr lang="en-US" sz="2200" dirty="0"/>
                            <a:t>then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--</a:t>
                          </a: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94008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9D7445F-269D-A543-B390-5C8E7BA26E1E}"/>
              </a:ext>
            </a:extLst>
          </p:cNvPr>
          <p:cNvSpPr txBox="1"/>
          <p:nvPr/>
        </p:nvSpPr>
        <p:spPr>
          <a:xfrm>
            <a:off x="2133074" y="2749722"/>
            <a:ext cx="1566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(Qualitatively)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716111-ACC4-67E4-85E4-8AFF336DBAFD}"/>
                  </a:ext>
                </a:extLst>
              </p:cNvPr>
              <p:cNvSpPr txBox="1"/>
              <p:nvPr/>
            </p:nvSpPr>
            <p:spPr>
              <a:xfrm>
                <a:off x="2718567" y="2188970"/>
                <a:ext cx="6137065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‘Inner’ defined at the initial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h𝑎𝑙𝑓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sz="2400" dirty="0"/>
                  <a:t> in this work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716111-ACC4-67E4-85E4-8AFF336DB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567" y="2188970"/>
                <a:ext cx="6137065" cy="491288"/>
              </a:xfrm>
              <a:prstGeom prst="rect">
                <a:avLst/>
              </a:prstGeom>
              <a:blipFill>
                <a:blip r:embed="rId3"/>
                <a:stretch>
                  <a:fillRect l="-1589" t="-7407" r="-596" b="-23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748B9-77E8-917C-7475-F227BCAC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70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A1F909B-7451-00A4-A0C2-B33FD3837589}"/>
              </a:ext>
            </a:extLst>
          </p:cNvPr>
          <p:cNvGrpSpPr/>
          <p:nvPr/>
        </p:nvGrpSpPr>
        <p:grpSpPr>
          <a:xfrm>
            <a:off x="3274136" y="67676"/>
            <a:ext cx="7445842" cy="6722648"/>
            <a:chOff x="3018502" y="67676"/>
            <a:chExt cx="7445842" cy="672264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6819A3C-D9A5-EDEC-9FE5-7A31A9F09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8502" y="67676"/>
              <a:ext cx="7445842" cy="6722648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3874C88-BB32-D1D7-9B5B-A8D783331BC0}"/>
                </a:ext>
              </a:extLst>
            </p:cNvPr>
            <p:cNvSpPr/>
            <p:nvPr/>
          </p:nvSpPr>
          <p:spPr>
            <a:xfrm>
              <a:off x="7574306" y="2487562"/>
              <a:ext cx="2683561" cy="71953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D6B4D9-A1C5-65E7-6762-7ECAD8FE4D1E}"/>
                </a:ext>
              </a:extLst>
            </p:cNvPr>
            <p:cNvSpPr/>
            <p:nvPr/>
          </p:nvSpPr>
          <p:spPr>
            <a:xfrm>
              <a:off x="7117106" y="791497"/>
              <a:ext cx="3049449" cy="1086464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015537C-880A-8A8A-4ED9-3E77BDA4C8B3}"/>
              </a:ext>
            </a:extLst>
          </p:cNvPr>
          <p:cNvSpPr txBox="1"/>
          <p:nvPr/>
        </p:nvSpPr>
        <p:spPr>
          <a:xfrm>
            <a:off x="10570275" y="2477996"/>
            <a:ext cx="1663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DM-free galaxy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2FE75-EF20-A412-98C9-0DAA205EA9F7}"/>
              </a:ext>
            </a:extLst>
          </p:cNvPr>
          <p:cNvSpPr txBox="1"/>
          <p:nvPr/>
        </p:nvSpPr>
        <p:spPr>
          <a:xfrm>
            <a:off x="10611826" y="954631"/>
            <a:ext cx="1848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Evaporation induced size boost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E4DC77-9D73-56F5-8718-C654D30192DF}"/>
                  </a:ext>
                </a:extLst>
              </p:cNvPr>
              <p:cNvSpPr txBox="1"/>
              <p:nvPr/>
            </p:nvSpPr>
            <p:spPr>
              <a:xfrm>
                <a:off x="0" y="611256"/>
                <a:ext cx="3510116" cy="6031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Time evolution: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h𝑎𝑙𝑓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Core-creation: ~50% increase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evaporation: ~3 times; but temporary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Eventually forming DM-free galaxies/star-clusters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:r>
                  <a:rPr lang="en-US" sz="2400" dirty="0" err="1"/>
                  <a:t>cuspy</a:t>
                </a:r>
                <a:r>
                  <a:rPr lang="en-US" sz="2400" dirty="0"/>
                  <a:t> in stellar 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Core-collapse: Accelerated size-shrinking; but with exceptions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E4DC77-9D73-56F5-8718-C654D3019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1256"/>
                <a:ext cx="3510116" cy="6031266"/>
              </a:xfrm>
              <a:prstGeom prst="rect">
                <a:avLst/>
              </a:prstGeom>
              <a:blipFill>
                <a:blip r:embed="rId3"/>
                <a:stretch>
                  <a:fillRect l="-2604" t="-606" r="-1910" b="-1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A83D3A-33BD-BF6A-29EC-DDED166E74B2}"/>
              </a:ext>
            </a:extLst>
          </p:cNvPr>
          <p:cNvCxnSpPr/>
          <p:nvPr/>
        </p:nvCxnSpPr>
        <p:spPr>
          <a:xfrm>
            <a:off x="5643717" y="427703"/>
            <a:ext cx="0" cy="786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45103B-9A58-D666-EC50-3F4938122AAA}"/>
              </a:ext>
            </a:extLst>
          </p:cNvPr>
          <p:cNvSpPr txBox="1"/>
          <p:nvPr/>
        </p:nvSpPr>
        <p:spPr>
          <a:xfrm>
            <a:off x="4841795" y="611256"/>
            <a:ext cx="893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closer orbit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66C7A3-B29E-E0F3-F195-50DDB429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59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25F6E5B-083A-F866-90C2-422868F8BE78}"/>
              </a:ext>
            </a:extLst>
          </p:cNvPr>
          <p:cNvGrpSpPr/>
          <p:nvPr/>
        </p:nvGrpSpPr>
        <p:grpSpPr>
          <a:xfrm>
            <a:off x="3110184" y="119396"/>
            <a:ext cx="7609794" cy="6738604"/>
            <a:chOff x="2903707" y="59698"/>
            <a:chExt cx="7609794" cy="673860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8ADB84-D4C1-ACEC-9B93-6C10EC9C5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03707" y="59698"/>
              <a:ext cx="7609794" cy="6738604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1BD8EB1-53E3-8A29-1387-2069AB1B7339}"/>
                </a:ext>
              </a:extLst>
            </p:cNvPr>
            <p:cNvSpPr/>
            <p:nvPr/>
          </p:nvSpPr>
          <p:spPr>
            <a:xfrm>
              <a:off x="7731617" y="2458065"/>
              <a:ext cx="2683561" cy="71953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F5B40E1-D3FF-599F-FC60-22B2BD0EDA67}"/>
              </a:ext>
            </a:extLst>
          </p:cNvPr>
          <p:cNvSpPr txBox="1"/>
          <p:nvPr/>
        </p:nvSpPr>
        <p:spPr>
          <a:xfrm>
            <a:off x="10562661" y="2633165"/>
            <a:ext cx="1663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DM-free galaxy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5072EE-C719-D309-7EF3-B3AF441B2108}"/>
                  </a:ext>
                </a:extLst>
              </p:cNvPr>
              <p:cNvSpPr txBox="1"/>
              <p:nvPr/>
            </p:nvSpPr>
            <p:spPr>
              <a:xfrm>
                <a:off x="-77092" y="457402"/>
                <a:ext cx="3538046" cy="6031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Time evolution: mass-light ratio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Defined by total mass/stellar mass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h𝑎𝑙𝑓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not core-collapse: monotonically decreasing (more baryon-dominated)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Core-collapse: increases again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DM-free objects form easily with evaporation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5072EE-C719-D309-7EF3-B3AF441B2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092" y="457402"/>
                <a:ext cx="3538046" cy="6031266"/>
              </a:xfrm>
              <a:prstGeom prst="rect">
                <a:avLst/>
              </a:prstGeom>
              <a:blipFill>
                <a:blip r:embed="rId3"/>
                <a:stretch>
                  <a:fillRect l="-2582" t="-809" r="-1205" b="-1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31D01A-0183-2E55-C560-8B6E587B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14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DA27-A0FA-46DE-E89D-B160DBC0B6AE}"/>
              </a:ext>
            </a:extLst>
          </p:cNvPr>
          <p:cNvSpPr txBox="1"/>
          <p:nvPr/>
        </p:nvSpPr>
        <p:spPr>
          <a:xfrm>
            <a:off x="648402" y="365180"/>
            <a:ext cx="103932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 core-collapsing cases: what happened to the exception?</a:t>
            </a:r>
          </a:p>
          <a:p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958A8B-539C-840D-5E9F-0DEDC8358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4923"/>
            <a:ext cx="9790550" cy="41082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B1F09E-AFAA-8004-B78E-71850D866061}"/>
              </a:ext>
            </a:extLst>
          </p:cNvPr>
          <p:cNvSpPr txBox="1"/>
          <p:nvPr/>
        </p:nvSpPr>
        <p:spPr>
          <a:xfrm>
            <a:off x="983227" y="2114036"/>
            <a:ext cx="35879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DM density at core-collapse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B575FA-676B-0D8A-5F5A-131522938FF3}"/>
              </a:ext>
            </a:extLst>
          </p:cNvPr>
          <p:cNvSpPr txBox="1"/>
          <p:nvPr/>
        </p:nvSpPr>
        <p:spPr>
          <a:xfrm>
            <a:off x="5550322" y="2158283"/>
            <a:ext cx="29434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Total mass loss history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8B207F-DD40-9E39-2066-4747ED8936C5}"/>
                  </a:ext>
                </a:extLst>
              </p:cNvPr>
              <p:cNvSpPr txBox="1"/>
              <p:nvPr/>
            </p:nvSpPr>
            <p:spPr>
              <a:xfrm>
                <a:off x="9473010" y="2114036"/>
                <a:ext cx="2727572" cy="4209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Stellar properties can probe core-collapse only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h𝑎𝑙𝑓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≲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</m:oMath>
                </a14:m>
                <a:r>
                  <a:rPr lang="en-US" sz="2200" dirty="0"/>
                  <a:t> keeps shrinking as it proceeds..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…eventually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h𝑎𝑙𝑓</m:t>
                        </m:r>
                      </m:sub>
                    </m:sSub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</m:oMath>
                </a14:m>
                <a:r>
                  <a:rPr lang="en-US" sz="2200" dirty="0"/>
                  <a:t> decouples for every case?</a:t>
                </a: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8B207F-DD40-9E39-2066-4747ED893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010" y="2114036"/>
                <a:ext cx="2727572" cy="4209101"/>
              </a:xfrm>
              <a:prstGeom prst="rect">
                <a:avLst/>
              </a:prstGeom>
              <a:blipFill>
                <a:blip r:embed="rId3"/>
                <a:stretch>
                  <a:fillRect l="-2685" t="-1014" r="-4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BDD87A-6975-5DDF-4774-46E4290F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05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B78AA81-6AA5-E12F-9CED-993C4136BCBB}"/>
              </a:ext>
            </a:extLst>
          </p:cNvPr>
          <p:cNvGrpSpPr/>
          <p:nvPr/>
        </p:nvGrpSpPr>
        <p:grpSpPr>
          <a:xfrm>
            <a:off x="2045109" y="1200329"/>
            <a:ext cx="7164840" cy="5657671"/>
            <a:chOff x="2399071" y="1200329"/>
            <a:chExt cx="7164840" cy="565767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D3BB526-B692-90E4-F578-C116D34C8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8089" y="1200329"/>
              <a:ext cx="6935822" cy="5292491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783013-6BC3-31D9-1BD8-E489F2B5DF2D}"/>
                </a:ext>
              </a:extLst>
            </p:cNvPr>
            <p:cNvSpPr/>
            <p:nvPr/>
          </p:nvSpPr>
          <p:spPr>
            <a:xfrm>
              <a:off x="4501720" y="5771536"/>
              <a:ext cx="4042511" cy="1086464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BB0E062-154F-F9B5-DEF1-22C28785D876}"/>
                </a:ext>
              </a:extLst>
            </p:cNvPr>
            <p:cNvSpPr/>
            <p:nvPr/>
          </p:nvSpPr>
          <p:spPr>
            <a:xfrm rot="5400000">
              <a:off x="1413296" y="3189791"/>
              <a:ext cx="2750027" cy="778478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C58740E-4ECE-4E75-50B7-411B865683CE}"/>
              </a:ext>
            </a:extLst>
          </p:cNvPr>
          <p:cNvSpPr txBox="1"/>
          <p:nvPr/>
        </p:nvSpPr>
        <p:spPr>
          <a:xfrm>
            <a:off x="648402" y="365180"/>
            <a:ext cx="1039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Stellar properties: the tidal-track approach</a:t>
            </a:r>
          </a:p>
          <a:p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7B0FF-186E-08EB-8F60-4B1934194AE1}"/>
              </a:ext>
            </a:extLst>
          </p:cNvPr>
          <p:cNvSpPr txBox="1"/>
          <p:nvPr/>
        </p:nvSpPr>
        <p:spPr>
          <a:xfrm>
            <a:off x="8190269" y="6126197"/>
            <a:ext cx="3126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The tracer that demands lower resolution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D47FD-0757-5E81-A813-756C5153F9C2}"/>
              </a:ext>
            </a:extLst>
          </p:cNvPr>
          <p:cNvSpPr txBox="1"/>
          <p:nvPr/>
        </p:nvSpPr>
        <p:spPr>
          <a:xfrm>
            <a:off x="86231" y="2699026"/>
            <a:ext cx="21237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Observable – but demands higher resolution to simulate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B966D4-A98E-94D6-CDEA-601F3576E257}"/>
              </a:ext>
            </a:extLst>
          </p:cNvPr>
          <p:cNvSpPr txBox="1"/>
          <p:nvPr/>
        </p:nvSpPr>
        <p:spPr>
          <a:xfrm>
            <a:off x="9050813" y="946778"/>
            <a:ext cx="30549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universal core-creation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core-collapse backward leg perfectly overlaps with the core-creation: adiabatic expansion &amp; contraction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whole thing seems highly parameterizable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26C21-A11F-2CB1-14CC-BA34A2C8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33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B56D74-7DEE-E3D9-C033-EE55F62D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45" y="1740310"/>
            <a:ext cx="5897383" cy="4464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D1DECE-93A9-FF86-9CCA-F50103E17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74" y="1820853"/>
            <a:ext cx="5767587" cy="4383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5FDFC0-C38D-F95A-18A5-F27AC3A3AA58}"/>
              </a:ext>
            </a:extLst>
          </p:cNvPr>
          <p:cNvSpPr txBox="1"/>
          <p:nvPr/>
        </p:nvSpPr>
        <p:spPr>
          <a:xfrm>
            <a:off x="491086" y="286522"/>
            <a:ext cx="1039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Stellar properties: the tidal-track approach</a:t>
            </a:r>
          </a:p>
          <a:p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F3080-58F5-67C0-A92B-97F8A4412133}"/>
              </a:ext>
            </a:extLst>
          </p:cNvPr>
          <p:cNvSpPr txBox="1"/>
          <p:nvPr/>
        </p:nvSpPr>
        <p:spPr>
          <a:xfrm>
            <a:off x="1612490" y="1297858"/>
            <a:ext cx="3567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Radial velocity dispersion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F9C07-0D0D-7E9E-37A1-205E999B2088}"/>
              </a:ext>
            </a:extLst>
          </p:cNvPr>
          <p:cNvSpPr txBox="1"/>
          <p:nvPr/>
        </p:nvSpPr>
        <p:spPr>
          <a:xfrm>
            <a:off x="8353260" y="1268361"/>
            <a:ext cx="2226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Mass-light ratio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C9549-F955-9055-9FA1-FFBBCB13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72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C9C575-2ACA-3BE0-85A6-F8FC47688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266" y="1355345"/>
            <a:ext cx="7167634" cy="54149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274393-CDFD-C028-F35E-CF69E7FA8FDD}"/>
              </a:ext>
            </a:extLst>
          </p:cNvPr>
          <p:cNvSpPr txBox="1"/>
          <p:nvPr/>
        </p:nvSpPr>
        <p:spPr>
          <a:xfrm>
            <a:off x="540247" y="519485"/>
            <a:ext cx="1039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Not a tidal track but stellar mass-size plane</a:t>
            </a:r>
          </a:p>
          <a:p>
            <a:endParaRPr lang="en-US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D44D20-D981-0C39-8AB6-61D10B3F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87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31835-90B3-33B0-3E81-DC0AB861A33D}"/>
              </a:ext>
            </a:extLst>
          </p:cNvPr>
          <p:cNvSpPr txBox="1"/>
          <p:nvPr/>
        </p:nvSpPr>
        <p:spPr>
          <a:xfrm>
            <a:off x="838200" y="651618"/>
            <a:ext cx="1039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Speculation time!</a:t>
            </a:r>
          </a:p>
          <a:p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62DAD-21A0-12E9-1C2A-89572EED994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76AB22-D34C-88FD-155D-CCD597E844AE}"/>
              </a:ext>
            </a:extLst>
          </p:cNvPr>
          <p:cNvSpPr txBox="1">
            <a:spLocks/>
          </p:cNvSpPr>
          <p:nvPr/>
        </p:nvSpPr>
        <p:spPr>
          <a:xfrm>
            <a:off x="715823" y="2115677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Stars get more concentrated with core-collapse</a:t>
            </a:r>
          </a:p>
          <a:p>
            <a:r>
              <a:rPr lang="en-US" dirty="0"/>
              <a:t>If there’s gas, it should follow…? (credit: </a:t>
            </a:r>
            <a:r>
              <a:rPr lang="en-US" dirty="0" err="1"/>
              <a:t>Akaxia</a:t>
            </a:r>
            <a:r>
              <a:rPr lang="en-US" dirty="0"/>
              <a:t> Cruz &amp; Stacy Kim)</a:t>
            </a:r>
          </a:p>
          <a:p>
            <a:r>
              <a:rPr lang="en-US" dirty="0"/>
              <a:t>Increasing density of gas -&gt; bursty star formation -&gt; stars that are concentrated at birth, also narrow spread in age</a:t>
            </a:r>
          </a:p>
          <a:p>
            <a:pPr lvl="1"/>
            <a:r>
              <a:rPr lang="en-US" dirty="0"/>
              <a:t>Globular cluster…?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736925-9CC3-25CB-FBEB-06F961F5F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91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31835-90B3-33B0-3E81-DC0AB861A33D}"/>
              </a:ext>
            </a:extLst>
          </p:cNvPr>
          <p:cNvSpPr txBox="1"/>
          <p:nvPr/>
        </p:nvSpPr>
        <p:spPr>
          <a:xfrm>
            <a:off x="838200" y="625296"/>
            <a:ext cx="10393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Take away messages</a:t>
            </a:r>
          </a:p>
          <a:p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62DAD-21A0-12E9-1C2A-89572EED994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Controlled simulations for small SIDM </a:t>
            </a:r>
            <a:r>
              <a:rPr lang="en-US" dirty="0" err="1"/>
              <a:t>subhalos</a:t>
            </a:r>
            <a:r>
              <a:rPr lang="en-US" dirty="0"/>
              <a:t> and dwarf satellites</a:t>
            </a:r>
          </a:p>
          <a:p>
            <a:r>
              <a:rPr lang="en-US" dirty="0"/>
              <a:t>Both halo statistics and stellar properties exhibit a large diversity in SIDM with (a fraction of) core-collapse</a:t>
            </a:r>
          </a:p>
          <a:p>
            <a:r>
              <a:rPr lang="en-US" dirty="0"/>
              <a:t>The </a:t>
            </a:r>
            <a:r>
              <a:rPr lang="en-US" dirty="0" err="1"/>
              <a:t>DM+star</a:t>
            </a:r>
            <a:r>
              <a:rPr lang="en-US" dirty="0"/>
              <a:t> simulations are very demanding in resolution for dwarfs</a:t>
            </a:r>
          </a:p>
          <a:p>
            <a:r>
              <a:rPr lang="en-US" dirty="0"/>
              <a:t>…but the stellar evolution also display a universality in co-evolution with inner total mass (mostly dominated by DM) </a:t>
            </a:r>
            <a:r>
              <a:rPr lang="en-US" dirty="0">
                <a:sym typeface="Wingdings" panose="05000000000000000000" pitchFamily="2" charset="2"/>
              </a:rPr>
              <a:t> tidal tracks!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60F18-A8ED-E27D-E89D-9CDE271B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32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5FAE1C-51DB-17B2-983C-5F8BB969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92A86-525D-CDAA-6CA2-91CD2FD66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928" y="178788"/>
            <a:ext cx="7430144" cy="65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80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5E24A-C6E6-90A4-0C54-19F0B9419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995" y="0"/>
            <a:ext cx="7332942" cy="67796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7791DC-29D1-814B-3C54-653B58D729CE}"/>
              </a:ext>
            </a:extLst>
          </p:cNvPr>
          <p:cNvSpPr txBox="1"/>
          <p:nvPr/>
        </p:nvSpPr>
        <p:spPr>
          <a:xfrm>
            <a:off x="9193161" y="6145578"/>
            <a:ext cx="2231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Credit: Charlie Mace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656AAE-7FA9-798D-6167-3D0CB6A6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893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percentages&#10;&#10;Description automatically generated">
            <a:extLst>
              <a:ext uri="{FF2B5EF4-FFF2-40B4-BE49-F238E27FC236}">
                <a16:creationId xmlns:a16="http://schemas.microsoft.com/office/drawing/2014/main" id="{CBE938BD-F6AB-BC8A-F4A4-863F23B69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5" y="1532586"/>
            <a:ext cx="11626850" cy="379096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F45C1C-C11E-BEE3-6C6B-1CD71C70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2E56-F38B-4884-892C-CACB94051F8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5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991</Words>
  <Application>Microsoft Macintosh PowerPoint</Application>
  <PresentationFormat>Widescreen</PresentationFormat>
  <Paragraphs>208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ADLaM Display</vt:lpstr>
      <vt:lpstr>Aptos</vt:lpstr>
      <vt:lpstr>Aptos Display</vt:lpstr>
      <vt:lpstr>Arial</vt:lpstr>
      <vt:lpstr>Cambria Math</vt:lpstr>
      <vt:lpstr>Century</vt:lpstr>
      <vt:lpstr>Wingdings</vt:lpstr>
      <vt:lpstr>Office Theme</vt:lpstr>
      <vt:lpstr>SIDM subhalos and satellites: core, core-collapse, and diversity</vt:lpstr>
      <vt:lpstr>PowerPoint Presentation</vt:lpstr>
      <vt:lpstr>Individual SIDM subhalo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Zeng, Zhichao</dc:creator>
  <cp:lastModifiedBy>Zeng, Zhichao</cp:lastModifiedBy>
  <cp:revision>55</cp:revision>
  <dcterms:created xsi:type="dcterms:W3CDTF">2024-06-11T04:30:24Z</dcterms:created>
  <dcterms:modified xsi:type="dcterms:W3CDTF">2024-06-13T18:19:35Z</dcterms:modified>
</cp:coreProperties>
</file>