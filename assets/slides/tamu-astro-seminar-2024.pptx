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69" r:id="rId2"/>
    <p:sldId id="359" r:id="rId3"/>
    <p:sldId id="370" r:id="rId4"/>
    <p:sldId id="288" r:id="rId5"/>
    <p:sldId id="363" r:id="rId6"/>
    <p:sldId id="294" r:id="rId7"/>
    <p:sldId id="374" r:id="rId8"/>
    <p:sldId id="373" r:id="rId9"/>
    <p:sldId id="344" r:id="rId10"/>
    <p:sldId id="347" r:id="rId11"/>
    <p:sldId id="351" r:id="rId12"/>
    <p:sldId id="349" r:id="rId13"/>
    <p:sldId id="259" r:id="rId14"/>
    <p:sldId id="334" r:id="rId15"/>
    <p:sldId id="343" r:id="rId16"/>
    <p:sldId id="345" r:id="rId17"/>
    <p:sldId id="348" r:id="rId18"/>
    <p:sldId id="3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94660"/>
  </p:normalViewPr>
  <p:slideViewPr>
    <p:cSldViewPr snapToGrid="0">
      <p:cViewPr>
        <p:scale>
          <a:sx n="100" d="100"/>
          <a:sy n="100" d="100"/>
        </p:scale>
        <p:origin x="96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C11BD4-6BCC-4DE7-B92B-ECB5C26CBE7D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228A2B-98E6-4ACD-85BA-1A8F5069D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062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228A2B-98E6-4ACD-85BA-1A8F5069D6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5094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605D25-6265-4301-B38D-7A33901BE6C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21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B7F64-A1EB-65C1-5FCF-04D35B31A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466C86-DC48-C941-E0BE-47797FEC32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B1271-F284-0E66-1835-69E20CBD9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F5723-1C7D-43F8-9474-B779EC5913E9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0074B-6277-09D3-F78D-BCBBD9A28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A8E0D-D825-ACD7-C767-4F1FEC22A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AB947-EDF4-46DF-B0A5-62BE0C36F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389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CDC34-C276-1DDF-FDFB-F87441FC1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352CC-253D-A8C2-EA0E-11303BFDC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03E10-9FCC-79C7-EE5D-153ABDA60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F5723-1C7D-43F8-9474-B779EC5913E9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B381F-4D7F-F0DE-B415-681FDA560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98A38-FA93-2B98-62EB-3B512909A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AB947-EDF4-46DF-B0A5-62BE0C36F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013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586A2-10A2-68A0-6E7A-A60CD6434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E9A0F-A77F-811D-341C-640393D3D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8DB7-1B41-EF03-C4DB-0D9E807C6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F5723-1C7D-43F8-9474-B779EC5913E9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2BE80-8509-8BCF-AF90-57E7EF35C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B1934-56A1-CA6A-BEB7-C4333FA42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AB947-EDF4-46DF-B0A5-62BE0C36F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590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4D662-867D-AE6B-7D8D-49481CDC8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1BFF9-A897-C515-7533-B5EA8008DE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A32E7-596F-DD58-CD41-F0C1CF3F99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2D3A2-B2B2-8421-DDE8-C2A8CAFED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F5723-1C7D-43F8-9474-B779EC5913E9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34257-9BF7-FB38-5C02-6A7264CEC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B52BC-3C91-7E40-129C-2FEE60CD5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AB947-EDF4-46DF-B0A5-62BE0C36F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168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39AA0-67B2-8E85-3C0E-361E1C95C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54C27-3898-C3FD-1BCD-69C9D6B16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F83F60-F2E9-7D20-1C77-11E21227D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69FE1D-EE0B-6B9F-A61D-4795B514C7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7FC9C-C1F2-B602-C3A9-E52CA7CC90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80A63D-76F7-442F-802E-4903B1BCF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F5723-1C7D-43F8-9474-B779EC5913E9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71DDE5-6174-3B59-712B-587BE7A97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93F854-3045-C6C8-59C4-A57246B18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AB947-EDF4-46DF-B0A5-62BE0C36F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936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21D0C-084E-9DC8-7DBA-89C12D5F1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1517A6-20F7-2969-9BA2-400E2FD30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F5723-1C7D-43F8-9474-B779EC5913E9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4E0067-B896-9C57-B193-0109395FE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D8F76E-D508-EA4C-B617-0D2DF73C8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AB947-EDF4-46DF-B0A5-62BE0C36F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53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0AAB82-E040-8A85-F52E-02153CFB0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F5723-1C7D-43F8-9474-B779EC5913E9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74BE07-DC7B-FC6B-72BD-BEF1687E1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F97AE-F9CC-DEBE-B34A-76A869578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AB947-EDF4-46DF-B0A5-62BE0C36F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227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CED63-2123-55B1-903C-6DD150760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E32FE-3BB6-4AFC-2078-CA587AF29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9E730-A64E-5348-8359-7C5724630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39476D-B623-D870-353D-4187C27B8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F5723-1C7D-43F8-9474-B779EC5913E9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4CB091-CBB1-388E-447C-4FC650D99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F1D1F-CE34-62DA-5FE8-EE3CB3FA2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AB947-EDF4-46DF-B0A5-62BE0C36F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81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E699F-A264-3896-0F90-D732008CD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51BE82-6F79-CE60-65A0-062481B6B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30D052-1288-BE28-D21D-DCC0C36C4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6840C-4582-12BE-435A-A76CA1324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F5723-1C7D-43F8-9474-B779EC5913E9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9B6DB-2A85-A225-9608-FA7F8199E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5BD14-7FCB-5DB5-C558-087EDA83D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AB947-EDF4-46DF-B0A5-62BE0C36F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123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18737-DAEA-742C-3AB9-ECBD738E4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B0D7-ABD7-E734-E28F-6CA158684F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1EB7B-2C00-E135-9101-A5D52F43F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F5723-1C7D-43F8-9474-B779EC5913E9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D44AC-323D-7E7C-7AFD-AE0EA8E01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62CBE-5C48-4D57-89AE-5C98F2DE2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AB947-EDF4-46DF-B0A5-62BE0C36F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876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5D19A7-78EA-BE56-AEBC-281495A5D7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CFFCC6-EF22-ABAF-9C8C-11316068B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B782D-1709-7FEE-9BA8-F6D879046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F5723-1C7D-43F8-9474-B779EC5913E9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DB49A-6339-7CE3-1F0F-45333CD12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04FD4-2793-2C5A-9E96-0132FE8A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AB947-EDF4-46DF-B0A5-62BE0C36F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15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EF689A-8B78-D397-5CE7-9C7E61B35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3E31D-3F0C-DF75-51B7-F8F982260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7283B-C9E3-68A5-81D5-946E197A33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8F5723-1C7D-43F8-9474-B779EC5913E9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33D5A-B969-4D6F-352E-4770F43C2A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B53D5-4DDF-8BE0-A6C0-A346919745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AAB947-EDF4-46DF-B0A5-62BE0C36F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647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44EAD-708D-8B54-A627-BE28B05EB1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968" y="1600200"/>
            <a:ext cx="10960608" cy="2387600"/>
          </a:xfrm>
        </p:spPr>
        <p:txBody>
          <a:bodyPr>
            <a:normAutofit/>
          </a:bodyPr>
          <a:lstStyle/>
          <a:p>
            <a:r>
              <a:rPr lang="en-US" sz="4800" dirty="0"/>
              <a:t>Self-interacting dark matter substructures: a tale of diversity and more</a:t>
            </a:r>
            <a:br>
              <a:rPr lang="en-US" sz="4800" dirty="0"/>
            </a:b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739ABA-A716-49BD-C7D5-DEA16BD297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4272" y="3602038"/>
            <a:ext cx="9144000" cy="1655762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</a:rPr>
              <a:t>Zhichao “Carton” Zeng</a:t>
            </a:r>
          </a:p>
          <a:p>
            <a:pPr algn="ctr"/>
            <a:r>
              <a:rPr lang="en-US" sz="2400" dirty="0">
                <a:solidFill>
                  <a:srgbClr val="0070C0"/>
                </a:solidFill>
              </a:rPr>
              <a:t>postdoc</a:t>
            </a:r>
          </a:p>
          <a:p>
            <a:pPr algn="ctr"/>
            <a:r>
              <a:rPr lang="en-US" sz="2400" dirty="0">
                <a:solidFill>
                  <a:srgbClr val="0070C0"/>
                </a:solidFill>
              </a:rPr>
              <a:t>Ohio State </a:t>
            </a:r>
            <a:r>
              <a:rPr lang="en-US" sz="2400" dirty="0">
                <a:solidFill>
                  <a:srgbClr val="0070C0"/>
                </a:solidFill>
                <a:sym typeface="Wingdings" panose="05000000000000000000" pitchFamily="2" charset="2"/>
              </a:rPr>
              <a:t> Texas A&amp;M</a:t>
            </a:r>
            <a:endParaRPr lang="en-US" sz="2400" dirty="0">
              <a:solidFill>
                <a:srgbClr val="0070C0"/>
              </a:solidFill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8CF501-0403-46AE-5303-7F5306E4AE33}"/>
              </a:ext>
            </a:extLst>
          </p:cNvPr>
          <p:cNvSpPr txBox="1"/>
          <p:nvPr/>
        </p:nvSpPr>
        <p:spPr>
          <a:xfrm>
            <a:off x="505968" y="5351907"/>
            <a:ext cx="109606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with Annika Peter,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Xiaolong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Du,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Shengqi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Yang, Andrew Benson, Francis-Yan Cyr-Racine, Stacy Kim,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Fangzhou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Jiang, Mark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Vogelsberger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, Charlie Mace, Ben Metcalf,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Jiaxuan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Li,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Akaxia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Cruz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2EC9FE-525E-22C8-C624-B82785E7C91A}"/>
              </a:ext>
            </a:extLst>
          </p:cNvPr>
          <p:cNvSpPr txBox="1"/>
          <p:nvPr/>
        </p:nvSpPr>
        <p:spPr>
          <a:xfrm>
            <a:off x="10777728" y="6304002"/>
            <a:ext cx="13957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500" dirty="0"/>
              <a:t>Sept 2024</a:t>
            </a:r>
          </a:p>
          <a:p>
            <a:pPr algn="r"/>
            <a:r>
              <a:rPr lang="en-US" sz="1500" dirty="0"/>
              <a:t>TAMU Seminar</a:t>
            </a:r>
          </a:p>
        </p:txBody>
      </p:sp>
    </p:spTree>
    <p:extLst>
      <p:ext uri="{BB962C8B-B14F-4D97-AF65-F5344CB8AC3E}">
        <p14:creationId xmlns:p14="http://schemas.microsoft.com/office/powerpoint/2010/main" val="2063541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D71A5-D9B3-4A7F-A3DD-1DBCC0ABF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8" y="-16642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3600" dirty="0"/>
              <a:t>Diversity problem of dwarf galaxies</a:t>
            </a:r>
            <a:endParaRPr lang="zh-TW" altLang="en-US" sz="3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9447D7-0F52-46E5-917E-AAB73D1E8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7" y="1833654"/>
            <a:ext cx="6743445" cy="49655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E6F8DF2-C070-4901-B37E-4745D57E71E8}"/>
              </a:ext>
            </a:extLst>
          </p:cNvPr>
          <p:cNvSpPr txBox="1"/>
          <p:nvPr/>
        </p:nvSpPr>
        <p:spPr>
          <a:xfrm>
            <a:off x="4324095" y="6492014"/>
            <a:ext cx="2132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Oman et al 1504.01437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A99E1D-EB64-A458-EB33-A29F7C5134D1}"/>
              </a:ext>
            </a:extLst>
          </p:cNvPr>
          <p:cNvSpPr txBox="1"/>
          <p:nvPr/>
        </p:nvSpPr>
        <p:spPr>
          <a:xfrm>
            <a:off x="0" y="2734337"/>
            <a:ext cx="1412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Inner mass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852E13-8C4B-E39B-6F16-C5609DE5063A}"/>
              </a:ext>
            </a:extLst>
          </p:cNvPr>
          <p:cNvSpPr txBox="1"/>
          <p:nvPr/>
        </p:nvSpPr>
        <p:spPr>
          <a:xfrm>
            <a:off x="1633728" y="6408219"/>
            <a:ext cx="14246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Total mass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A2C3935-9C42-92E8-97AC-CCB3F4594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707" y="2428946"/>
            <a:ext cx="5485496" cy="381270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F62E5FA-B2EF-8561-9F4E-CF0B257ABDFF}"/>
              </a:ext>
            </a:extLst>
          </p:cNvPr>
          <p:cNvSpPr txBox="1"/>
          <p:nvPr/>
        </p:nvSpPr>
        <p:spPr>
          <a:xfrm>
            <a:off x="8019844" y="1990377"/>
            <a:ext cx="31061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Diversity in rotation curves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2B3A34-3637-8CE8-821D-AB285BC90E8A}"/>
              </a:ext>
            </a:extLst>
          </p:cNvPr>
          <p:cNvSpPr txBox="1"/>
          <p:nvPr/>
        </p:nvSpPr>
        <p:spPr>
          <a:xfrm>
            <a:off x="9189035" y="6285109"/>
            <a:ext cx="252517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dirty="0">
                <a:solidFill>
                  <a:schemeClr val="bg1">
                    <a:lumMod val="65000"/>
                  </a:schemeClr>
                </a:solidFill>
              </a:rPr>
              <a:t>Santos-Santos+ 1706.04202</a:t>
            </a:r>
            <a:endParaRPr lang="zh-TW" altLang="en-US" sz="15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65C23E-126C-96D2-347C-791BBA8907B5}"/>
              </a:ext>
            </a:extLst>
          </p:cNvPr>
          <p:cNvSpPr txBox="1"/>
          <p:nvPr/>
        </p:nvSpPr>
        <p:spPr>
          <a:xfrm>
            <a:off x="1212064" y="847644"/>
            <a:ext cx="93766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observed dwarf galaxies display a larger scatter/diversity than cold dark matter (CDM) expectations</a:t>
            </a:r>
          </a:p>
          <a:p>
            <a:r>
              <a:rPr lang="en-US" sz="2000" dirty="0"/>
              <a:t>…suggests something funny is going on in the </a:t>
            </a:r>
            <a:r>
              <a:rPr lang="en-US" sz="2000" dirty="0">
                <a:solidFill>
                  <a:srgbClr val="FF0000"/>
                </a:solidFill>
              </a:rPr>
              <a:t>inner mass distribution</a:t>
            </a:r>
            <a:r>
              <a:rPr lang="en-US" sz="2000" dirty="0"/>
              <a:t> of the DM halo</a:t>
            </a:r>
          </a:p>
        </p:txBody>
      </p:sp>
    </p:spTree>
    <p:extLst>
      <p:ext uri="{BB962C8B-B14F-4D97-AF65-F5344CB8AC3E}">
        <p14:creationId xmlns:p14="http://schemas.microsoft.com/office/powerpoint/2010/main" val="4268765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D71A5-D9B3-4A7F-A3DD-1DBCC0ABF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8" y="-16642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3600" dirty="0"/>
              <a:t>Diversity problem of dwarf galaxies</a:t>
            </a:r>
            <a:endParaRPr lang="zh-TW" altLang="en-US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0B235E-DF08-4319-8DFB-4AEE63937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86" y="2746210"/>
            <a:ext cx="6275721" cy="38280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61EE936-BEC7-4BDB-AE39-AE1D7BC98C47}"/>
              </a:ext>
            </a:extLst>
          </p:cNvPr>
          <p:cNvSpPr txBox="1"/>
          <p:nvPr/>
        </p:nvSpPr>
        <p:spPr>
          <a:xfrm>
            <a:off x="4233174" y="6412634"/>
            <a:ext cx="226613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dirty="0">
                <a:solidFill>
                  <a:schemeClr val="bg1">
                    <a:lumMod val="65000"/>
                  </a:schemeClr>
                </a:solidFill>
              </a:rPr>
              <a:t>Hayashi et al 2007.13780</a:t>
            </a:r>
            <a:endParaRPr lang="zh-TW" altLang="en-US" sz="15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C2E67D-20DC-DDE8-00FD-48C98D02428D}"/>
              </a:ext>
            </a:extLst>
          </p:cNvPr>
          <p:cNvSpPr txBox="1"/>
          <p:nvPr/>
        </p:nvSpPr>
        <p:spPr>
          <a:xfrm>
            <a:off x="1579675" y="2285857"/>
            <a:ext cx="415485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accent2">
                    <a:lumMod val="75000"/>
                  </a:schemeClr>
                </a:solidFill>
              </a:rPr>
              <a:t>Diversity in DM inner density slope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170308-90FA-81EC-55D0-BF776A6F8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2589665"/>
            <a:ext cx="5229216" cy="38229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E71BD3-AFA6-867F-C95C-E45E793EB755}"/>
              </a:ext>
            </a:extLst>
          </p:cNvPr>
          <p:cNvSpPr txBox="1"/>
          <p:nvPr/>
        </p:nvSpPr>
        <p:spPr>
          <a:xfrm>
            <a:off x="7322028" y="2174167"/>
            <a:ext cx="418306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accent2">
                    <a:lumMod val="75000"/>
                  </a:schemeClr>
                </a:solidFill>
              </a:rPr>
              <a:t>Diversity in stellar mass-size plane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B73DD6-503C-D12E-222C-5AED69DD62C4}"/>
              </a:ext>
            </a:extLst>
          </p:cNvPr>
          <p:cNvSpPr txBox="1"/>
          <p:nvPr/>
        </p:nvSpPr>
        <p:spPr>
          <a:xfrm>
            <a:off x="10344150" y="6187500"/>
            <a:ext cx="20368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Revaz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&amp;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Jablonka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1801.06222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657422-8EF7-652D-987F-32DD08AFC475}"/>
              </a:ext>
            </a:extLst>
          </p:cNvPr>
          <p:cNvSpPr txBox="1"/>
          <p:nvPr/>
        </p:nvSpPr>
        <p:spPr>
          <a:xfrm>
            <a:off x="1292530" y="984492"/>
            <a:ext cx="93766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observed dwarf galaxies display a larger scatter/diversity than cold dark matter (CDM) expectations</a:t>
            </a:r>
          </a:p>
          <a:p>
            <a:r>
              <a:rPr lang="en-US" sz="2000" dirty="0"/>
              <a:t>…suggests something funny is going on in the </a:t>
            </a:r>
            <a:r>
              <a:rPr lang="en-US" sz="2000" dirty="0">
                <a:solidFill>
                  <a:srgbClr val="FF0000"/>
                </a:solidFill>
              </a:rPr>
              <a:t>inner mass distribution</a:t>
            </a:r>
            <a:r>
              <a:rPr lang="en-US" sz="2000" dirty="0"/>
              <a:t> of the DM halo</a:t>
            </a:r>
          </a:p>
        </p:txBody>
      </p:sp>
    </p:spTree>
    <p:extLst>
      <p:ext uri="{BB962C8B-B14F-4D97-AF65-F5344CB8AC3E}">
        <p14:creationId xmlns:p14="http://schemas.microsoft.com/office/powerpoint/2010/main" val="3597504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DC6B667-4C6E-964C-8D1E-4C7158FD1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8363" y="1085205"/>
            <a:ext cx="3476809" cy="5718517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79DE4D3-E64B-46C5-90D7-794E8EB9D7FB}"/>
              </a:ext>
            </a:extLst>
          </p:cNvPr>
          <p:cNvGrpSpPr/>
          <p:nvPr/>
        </p:nvGrpSpPr>
        <p:grpSpPr>
          <a:xfrm>
            <a:off x="5319686" y="1091672"/>
            <a:ext cx="3476809" cy="5718517"/>
            <a:chOff x="4832818" y="1091672"/>
            <a:chExt cx="3476809" cy="571851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E179ED4-6D0F-DD40-A478-C71569D65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32818" y="1091672"/>
              <a:ext cx="3476809" cy="5718517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66CD0A6-DE08-F84D-AEAC-3BC893E0C92D}"/>
                </a:ext>
              </a:extLst>
            </p:cNvPr>
            <p:cNvGrpSpPr/>
            <p:nvPr/>
          </p:nvGrpSpPr>
          <p:grpSpPr>
            <a:xfrm>
              <a:off x="5413313" y="4191460"/>
              <a:ext cx="682687" cy="375445"/>
              <a:chOff x="5229610" y="4191500"/>
              <a:chExt cx="682687" cy="375445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E448981B-A2F5-BA43-9F74-47ABEEFB0DC0}"/>
                  </a:ext>
                </a:extLst>
              </p:cNvPr>
              <p:cNvCxnSpPr/>
              <p:nvPr/>
            </p:nvCxnSpPr>
            <p:spPr>
              <a:xfrm flipH="1">
                <a:off x="5278061" y="4566945"/>
                <a:ext cx="58578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7940D6-DC4C-6B46-99C3-445D22A1D2C2}"/>
                  </a:ext>
                </a:extLst>
              </p:cNvPr>
              <p:cNvSpPr txBox="1"/>
              <p:nvPr/>
            </p:nvSpPr>
            <p:spPr>
              <a:xfrm>
                <a:off x="5229610" y="4191500"/>
                <a:ext cx="6826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C000"/>
                    </a:solidFill>
                  </a:rPr>
                  <a:t>Heat 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6ED8BE6-9CA4-3A4F-9DE1-53C0E3E0FD94}"/>
                </a:ext>
              </a:extLst>
            </p:cNvPr>
            <p:cNvGrpSpPr/>
            <p:nvPr/>
          </p:nvGrpSpPr>
          <p:grpSpPr>
            <a:xfrm>
              <a:off x="7136095" y="4161122"/>
              <a:ext cx="682687" cy="399710"/>
              <a:chOff x="6182210" y="4176760"/>
              <a:chExt cx="682687" cy="399710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49157F41-5908-6F4F-BDED-54E3BC983E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68306" y="4576470"/>
                <a:ext cx="53339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97034E-69E9-7C46-817F-362EEA5AB984}"/>
                  </a:ext>
                </a:extLst>
              </p:cNvPr>
              <p:cNvSpPr txBox="1"/>
              <p:nvPr/>
            </p:nvSpPr>
            <p:spPr>
              <a:xfrm>
                <a:off x="6182210" y="4176760"/>
                <a:ext cx="6826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C000"/>
                    </a:solidFill>
                  </a:rPr>
                  <a:t>Heat </a:t>
                </a: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AA4EDBD-0771-1746-95B1-5FB64753D3B1}"/>
              </a:ext>
            </a:extLst>
          </p:cNvPr>
          <p:cNvSpPr txBox="1"/>
          <p:nvPr/>
        </p:nvSpPr>
        <p:spPr>
          <a:xfrm>
            <a:off x="49356" y="1085205"/>
            <a:ext cx="542605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DM Self-interaction in form of particle scatterings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Heat transfer among halo shells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Unique 2-phase evolution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/>
              <a:t> </a:t>
            </a:r>
            <a:r>
              <a:rPr lang="en-US" sz="2400" dirty="0">
                <a:solidFill>
                  <a:srgbClr val="FFC000"/>
                </a:solidFill>
              </a:rPr>
              <a:t>CDM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>
                <a:solidFill>
                  <a:srgbClr val="0070C0"/>
                </a:solidFill>
              </a:rPr>
              <a:t>core </a:t>
            </a:r>
            <a:r>
              <a:rPr lang="en-US" sz="2400" dirty="0"/>
              <a:t>-------------------&gt; </a:t>
            </a:r>
            <a:r>
              <a:rPr lang="en-US" sz="2400" dirty="0">
                <a:solidFill>
                  <a:schemeClr val="accent6"/>
                </a:solidFill>
                <a:sym typeface="Wingdings" panose="05000000000000000000" pitchFamily="2" charset="2"/>
              </a:rPr>
              <a:t>core-collapse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accent6"/>
              </a:solidFill>
              <a:sym typeface="Wingdings" panose="05000000000000000000" pitchFamily="2" charset="2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en-US" sz="22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>
                    <a:lumMod val="50000"/>
                  </a:schemeClr>
                </a:solidFill>
              </a:rPr>
              <a:t>Core-collapse: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>
                    <a:lumMod val="50000"/>
                  </a:schemeClr>
                </a:solidFill>
              </a:rPr>
              <a:t>Takes long-time to happen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>
                    <a:lumMod val="50000"/>
                  </a:schemeClr>
                </a:solidFill>
              </a:rPr>
              <a:t>But self-accelerating in late stages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>
                    <a:lumMod val="50000"/>
                  </a:schemeClr>
                </a:solidFill>
              </a:rPr>
              <a:t>Runaway process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>
                    <a:lumMod val="50000"/>
                  </a:schemeClr>
                </a:solidFill>
              </a:rPr>
              <a:t>…difficult to simulate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A2534E-0FEE-354A-802E-0CBAD231C394}"/>
              </a:ext>
            </a:extLst>
          </p:cNvPr>
          <p:cNvSpPr txBox="1"/>
          <p:nvPr/>
        </p:nvSpPr>
        <p:spPr>
          <a:xfrm>
            <a:off x="49356" y="6479290"/>
            <a:ext cx="6859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Negative heat capacity of self-gravitating system: globular clusters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123D2C-154C-4F0D-A954-7F694D9275D6}"/>
              </a:ext>
            </a:extLst>
          </p:cNvPr>
          <p:cNvSpPr txBox="1"/>
          <p:nvPr/>
        </p:nvSpPr>
        <p:spPr>
          <a:xfrm>
            <a:off x="5134497" y="5347987"/>
            <a:ext cx="1512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(temperature)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326196-A10D-463B-9242-781F1F1C0A47}"/>
              </a:ext>
            </a:extLst>
          </p:cNvPr>
          <p:cNvSpPr txBox="1"/>
          <p:nvPr/>
        </p:nvSpPr>
        <p:spPr>
          <a:xfrm>
            <a:off x="10492689" y="3752889"/>
            <a:ext cx="16993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dirty="0">
                <a:solidFill>
                  <a:schemeClr val="accent6"/>
                </a:solidFill>
              </a:rPr>
              <a:t>Negative T gradient</a:t>
            </a:r>
            <a:endParaRPr lang="zh-TW" altLang="en-US" sz="1500" dirty="0">
              <a:solidFill>
                <a:schemeClr val="accent6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0AEB77C-70DC-48EF-830F-18AF374CF188}"/>
              </a:ext>
            </a:extLst>
          </p:cNvPr>
          <p:cNvCxnSpPr/>
          <p:nvPr/>
        </p:nvCxnSpPr>
        <p:spPr>
          <a:xfrm flipH="1">
            <a:off x="10663285" y="4106047"/>
            <a:ext cx="87846" cy="85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8168B0E-3D9F-4873-B9A9-85341249D2F1}"/>
              </a:ext>
            </a:extLst>
          </p:cNvPr>
          <p:cNvCxnSpPr/>
          <p:nvPr/>
        </p:nvCxnSpPr>
        <p:spPr>
          <a:xfrm flipH="1">
            <a:off x="9463177" y="1984075"/>
            <a:ext cx="60385" cy="250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C8ACA0A-C87A-47D9-9F76-EED4B5800EB8}"/>
              </a:ext>
            </a:extLst>
          </p:cNvPr>
          <p:cNvCxnSpPr/>
          <p:nvPr/>
        </p:nvCxnSpPr>
        <p:spPr>
          <a:xfrm flipV="1">
            <a:off x="9627079" y="1837426"/>
            <a:ext cx="120770" cy="396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5ADDFD4-F5D6-43B8-97F6-28DBC5989832}"/>
              </a:ext>
            </a:extLst>
          </p:cNvPr>
          <p:cNvSpPr txBox="1"/>
          <p:nvPr/>
        </p:nvSpPr>
        <p:spPr>
          <a:xfrm>
            <a:off x="10751131" y="1204517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C000"/>
                </a:solidFill>
              </a:rPr>
              <a:t>t=0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A344EB-0EA9-65C3-47CD-8F67AA64E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4C788-D797-5E48-ACB2-C78B567F1C5B}" type="slidenum">
              <a:rPr lang="en-US" smtClean="0"/>
              <a:t>4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950052C-D7B7-78EF-B34A-D88566363E6A}"/>
              </a:ext>
            </a:extLst>
          </p:cNvPr>
          <p:cNvSpPr txBox="1">
            <a:spLocks/>
          </p:cNvSpPr>
          <p:nvPr/>
        </p:nvSpPr>
        <p:spPr>
          <a:xfrm>
            <a:off x="153618" y="-1664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/>
              <a:t>SIDM halos: core-formation then core-collapse</a:t>
            </a:r>
            <a:endParaRPr lang="zh-TW" altLang="en-US" sz="3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BC0E93-F041-1D00-19EC-CD0C274B7CBB}"/>
              </a:ext>
            </a:extLst>
          </p:cNvPr>
          <p:cNvSpPr txBox="1"/>
          <p:nvPr/>
        </p:nvSpPr>
        <p:spPr>
          <a:xfrm>
            <a:off x="6909237" y="1757941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density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F499E7-F2A0-1A6F-FC36-B72BF5293257}"/>
              </a:ext>
            </a:extLst>
          </p:cNvPr>
          <p:cNvSpPr txBox="1"/>
          <p:nvPr/>
        </p:nvSpPr>
        <p:spPr>
          <a:xfrm>
            <a:off x="6577558" y="3822128"/>
            <a:ext cx="2062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velocity dispersion</a:t>
            </a:r>
          </a:p>
        </p:txBody>
      </p:sp>
    </p:spTree>
    <p:extLst>
      <p:ext uri="{BB962C8B-B14F-4D97-AF65-F5344CB8AC3E}">
        <p14:creationId xmlns:p14="http://schemas.microsoft.com/office/powerpoint/2010/main" val="391439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graph of a function&#10;&#10;Description automatically generated">
            <a:extLst>
              <a:ext uri="{FF2B5EF4-FFF2-40B4-BE49-F238E27FC236}">
                <a16:creationId xmlns:a16="http://schemas.microsoft.com/office/drawing/2014/main" id="{CA222A52-7F12-4705-38EE-C9D0CDBD2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5051" y="1120676"/>
            <a:ext cx="5808661" cy="41980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AA4EDBD-0771-1746-95B1-5FB64753D3B1}"/>
              </a:ext>
            </a:extLst>
          </p:cNvPr>
          <p:cNvSpPr txBox="1"/>
          <p:nvPr/>
        </p:nvSpPr>
        <p:spPr>
          <a:xfrm>
            <a:off x="94596" y="2090172"/>
            <a:ext cx="6329478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SIDM halos can naturally have a large diversity in inner mass/density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…because they can be at different stages during </a:t>
            </a:r>
            <a:r>
              <a:rPr lang="en-US" sz="2500" dirty="0" err="1"/>
              <a:t>core</a:t>
            </a:r>
            <a:r>
              <a:rPr lang="en-US" sz="2500" dirty="0" err="1">
                <a:sym typeface="Wingdings" panose="05000000000000000000" pitchFamily="2" charset="2"/>
              </a:rPr>
              <a:t>core-collapse</a:t>
            </a:r>
            <a:endParaRPr lang="en-US" sz="25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Orbital effects further enhance the diversity (see later)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A344EB-0EA9-65C3-47CD-8F67AA64E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4C788-D797-5E48-ACB2-C78B567F1C5B}" type="slidenum">
              <a:rPr lang="en-US" smtClean="0"/>
              <a:t>5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950052C-D7B7-78EF-B34A-D88566363E6A}"/>
              </a:ext>
            </a:extLst>
          </p:cNvPr>
          <p:cNvSpPr txBox="1">
            <a:spLocks/>
          </p:cNvSpPr>
          <p:nvPr/>
        </p:nvSpPr>
        <p:spPr>
          <a:xfrm>
            <a:off x="153618" y="-1664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/>
              <a:t>SIDM halos core-collapse</a:t>
            </a:r>
            <a:endParaRPr lang="zh-TW" altLang="en-US" sz="3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98D53D-411F-9AD3-2B9E-FF56A2B926C2}"/>
              </a:ext>
            </a:extLst>
          </p:cNvPr>
          <p:cNvSpPr txBox="1"/>
          <p:nvPr/>
        </p:nvSpPr>
        <p:spPr>
          <a:xfrm>
            <a:off x="7551207" y="5284069"/>
            <a:ext cx="43834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Main features of core-collapse happening:</a:t>
            </a:r>
          </a:p>
          <a:p>
            <a:r>
              <a:rPr lang="en-US" sz="2200" dirty="0"/>
              <a:t> (near the center) </a:t>
            </a:r>
            <a:r>
              <a:rPr lang="en-US" sz="2200" b="1" dirty="0"/>
              <a:t>denser, hotter, steeper density slope </a:t>
            </a:r>
          </a:p>
        </p:txBody>
      </p:sp>
    </p:spTree>
    <p:extLst>
      <p:ext uri="{BB962C8B-B14F-4D97-AF65-F5344CB8AC3E}">
        <p14:creationId xmlns:p14="http://schemas.microsoft.com/office/powerpoint/2010/main" val="3685651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48EF21-4407-2987-4F76-82921F5DF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625" y="1154203"/>
            <a:ext cx="4020760" cy="54968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B85715-C80D-4678-86D7-A1E09C45E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177" y="-172501"/>
            <a:ext cx="10519299" cy="1326704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DM-only: individual SIDM </a:t>
            </a:r>
            <a:r>
              <a:rPr lang="en-US" altLang="zh-CN" sz="3600" dirty="0" err="1"/>
              <a:t>subhalo</a:t>
            </a:r>
            <a:r>
              <a:rPr lang="en-US" altLang="zh-CN" sz="3600" dirty="0"/>
              <a:t> </a:t>
            </a:r>
            <a:endParaRPr lang="zh-TW" altLang="en-US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55E7BE-1F47-435C-BC81-D9CE0634BF2D}"/>
              </a:ext>
            </a:extLst>
          </p:cNvPr>
          <p:cNvSpPr txBox="1"/>
          <p:nvPr/>
        </p:nvSpPr>
        <p:spPr>
          <a:xfrm>
            <a:off x="79978" y="1855563"/>
            <a:ext cx="2195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Central density</a:t>
            </a:r>
            <a:endParaRPr lang="zh-TW" alt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AD1C11-B44D-4620-9515-B6633CC8775F}"/>
              </a:ext>
            </a:extLst>
          </p:cNvPr>
          <p:cNvSpPr txBox="1"/>
          <p:nvPr/>
        </p:nvSpPr>
        <p:spPr>
          <a:xfrm>
            <a:off x="79978" y="4300396"/>
            <a:ext cx="2314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Orbital distance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367F1B-A522-40B8-951B-3490748F780F}"/>
                  </a:ext>
                </a:extLst>
              </p:cNvPr>
              <p:cNvSpPr txBox="1"/>
              <p:nvPr/>
            </p:nvSpPr>
            <p:spPr>
              <a:xfrm>
                <a:off x="152426" y="5172474"/>
                <a:ext cx="1909115" cy="1685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200" dirty="0">
                    <a:solidFill>
                      <a:srgbClr val="FF0000"/>
                    </a:solidFill>
                  </a:rPr>
                  <a:t>Evaporation heating event rate: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sSub>
                        <m:sSubPr>
                          <m:ctrlPr>
                            <a:rPr lang="en-US" altLang="zh-TW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𝑜𝑟𝑏𝑖𝑡</m:t>
                          </m:r>
                        </m:sub>
                      </m:sSub>
                      <m:f>
                        <m:fPr>
                          <m:ctrlPr>
                            <a:rPr lang="en-US" altLang="zh-TW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lang="en-US" altLang="zh-TW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b>
                        <m:sSubPr>
                          <m:ctrlPr>
                            <a:rPr lang="en-US" altLang="zh-TW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TW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h𝑜𝑠𝑡</m:t>
                          </m:r>
                        </m:sub>
                      </m:sSub>
                    </m:oMath>
                  </m:oMathPara>
                </a14:m>
                <a:endParaRPr lang="zh-TW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367F1B-A522-40B8-951B-3490748F7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26" y="5172474"/>
                <a:ext cx="1909115" cy="1685526"/>
              </a:xfrm>
              <a:prstGeom prst="rect">
                <a:avLst/>
              </a:prstGeom>
              <a:blipFill>
                <a:blip r:embed="rId3"/>
                <a:stretch>
                  <a:fillRect l="-4153" t="-2536" r="-3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B179E79-76E2-4C21-ACF3-1596F6DA8719}"/>
              </a:ext>
            </a:extLst>
          </p:cNvPr>
          <p:cNvSpPr txBox="1"/>
          <p:nvPr/>
        </p:nvSpPr>
        <p:spPr>
          <a:xfrm>
            <a:off x="6252737" y="2866353"/>
            <a:ext cx="1865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200" dirty="0">
                <a:solidFill>
                  <a:srgbClr val="FF0000"/>
                </a:solidFill>
              </a:rPr>
              <a:t>Tidal heating rate</a:t>
            </a:r>
            <a:endParaRPr lang="zh-TW" altLang="en-US" sz="22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3C8ECF-2174-4037-84CD-B00B26C9203E}"/>
              </a:ext>
            </a:extLst>
          </p:cNvPr>
          <p:cNvSpPr txBox="1"/>
          <p:nvPr/>
        </p:nvSpPr>
        <p:spPr>
          <a:xfrm>
            <a:off x="6136696" y="1501620"/>
            <a:ext cx="1981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00B0F0"/>
                </a:solidFill>
              </a:rPr>
              <a:t>Internal cooling by heat outflow</a:t>
            </a:r>
            <a:endParaRPr lang="zh-TW" altLang="en-US" sz="2000" dirty="0">
              <a:solidFill>
                <a:srgbClr val="00B0F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738FA6-5530-447F-9F15-E11D9DF4B311}"/>
              </a:ext>
            </a:extLst>
          </p:cNvPr>
          <p:cNvSpPr txBox="1"/>
          <p:nvPr/>
        </p:nvSpPr>
        <p:spPr>
          <a:xfrm>
            <a:off x="6427433" y="4444967"/>
            <a:ext cx="56585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 err="1"/>
              <a:t>Subhalo</a:t>
            </a:r>
            <a:r>
              <a:rPr lang="en-US" altLang="zh-TW" sz="2000" dirty="0"/>
              <a:t> central density grows only if </a:t>
            </a:r>
            <a:r>
              <a:rPr lang="en-US" altLang="zh-TW" sz="2000" dirty="0">
                <a:solidFill>
                  <a:srgbClr val="00B0F0"/>
                </a:solidFill>
              </a:rPr>
              <a:t>cooling</a:t>
            </a:r>
            <a:r>
              <a:rPr lang="en-US" altLang="zh-TW" sz="2000" dirty="0"/>
              <a:t> &gt; </a:t>
            </a:r>
            <a:r>
              <a:rPr lang="en-US" altLang="zh-TW" sz="2000" dirty="0">
                <a:solidFill>
                  <a:srgbClr val="FF0000"/>
                </a:solidFill>
              </a:rPr>
              <a:t>heating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Evaporation heating can be strong enough to disrupt pre-core-collapse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Core-collapse or not is </a:t>
            </a:r>
            <a:r>
              <a:rPr lang="en-US" altLang="zh-TW" sz="2000" dirty="0">
                <a:solidFill>
                  <a:srgbClr val="7030A0"/>
                </a:solidFill>
              </a:rPr>
              <a:t>highly sensitive</a:t>
            </a:r>
            <a:r>
              <a:rPr lang="en-US" altLang="zh-TW" sz="2000" dirty="0"/>
              <a:t> to </a:t>
            </a:r>
            <a:r>
              <a:rPr lang="en-US" altLang="zh-TW" sz="2000" dirty="0" err="1"/>
              <a:t>subhalo</a:t>
            </a:r>
            <a:r>
              <a:rPr lang="en-US" altLang="zh-TW" sz="2000" dirty="0"/>
              <a:t>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rgbClr val="7030A0"/>
                </a:solidFill>
              </a:rPr>
              <a:t>Diversity of </a:t>
            </a:r>
            <a:r>
              <a:rPr lang="en-US" altLang="zh-TW" sz="2000" dirty="0" err="1">
                <a:solidFill>
                  <a:srgbClr val="7030A0"/>
                </a:solidFill>
              </a:rPr>
              <a:t>subhalo</a:t>
            </a:r>
            <a:r>
              <a:rPr lang="en-US" altLang="zh-TW" sz="2000" dirty="0">
                <a:solidFill>
                  <a:srgbClr val="7030A0"/>
                </a:solidFill>
              </a:rPr>
              <a:t> central density!</a:t>
            </a:r>
            <a:endParaRPr lang="zh-TW" altLang="en-US" sz="2000" dirty="0">
              <a:solidFill>
                <a:srgbClr val="7030A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F9E7B9-C158-4A03-B64E-184F1B99D57D}"/>
              </a:ext>
            </a:extLst>
          </p:cNvPr>
          <p:cNvSpPr txBox="1"/>
          <p:nvPr/>
        </p:nvSpPr>
        <p:spPr>
          <a:xfrm>
            <a:off x="2864150" y="1929323"/>
            <a:ext cx="5661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NFW</a:t>
            </a:r>
            <a:endParaRPr lang="zh-TW" altLang="en-US" sz="1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7BD7FE5-0462-44B6-B627-51E303AAFE89}"/>
              </a:ext>
            </a:extLst>
          </p:cNvPr>
          <p:cNvCxnSpPr/>
          <p:nvPr/>
        </p:nvCxnSpPr>
        <p:spPr>
          <a:xfrm flipH="1">
            <a:off x="2913311" y="2188461"/>
            <a:ext cx="98323" cy="133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04ED485-7CB3-4643-A0A1-4F812D987458}"/>
              </a:ext>
            </a:extLst>
          </p:cNvPr>
          <p:cNvSpPr txBox="1"/>
          <p:nvPr/>
        </p:nvSpPr>
        <p:spPr>
          <a:xfrm>
            <a:off x="3334284" y="3077498"/>
            <a:ext cx="594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core</a:t>
            </a:r>
            <a:endParaRPr lang="zh-TW" alt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825C145-B4D8-4A7A-8CCF-859B912B96A4}"/>
              </a:ext>
            </a:extLst>
          </p:cNvPr>
          <p:cNvCxnSpPr/>
          <p:nvPr/>
        </p:nvCxnSpPr>
        <p:spPr>
          <a:xfrm flipH="1" flipV="1">
            <a:off x="3235325" y="3004360"/>
            <a:ext cx="119349" cy="146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0C273D3-ADBC-45C6-85AA-3C1F4D80395A}"/>
              </a:ext>
            </a:extLst>
          </p:cNvPr>
          <p:cNvSpPr txBox="1"/>
          <p:nvPr/>
        </p:nvSpPr>
        <p:spPr>
          <a:xfrm>
            <a:off x="4301868" y="646683"/>
            <a:ext cx="3131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Core-collapse 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</a:rPr>
              <a:t>(terminate the simulation here)</a:t>
            </a:r>
            <a:endParaRPr lang="zh-TW" altLang="en-US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34FA25-7DDD-4F80-9070-45E7F93DDBE1}"/>
              </a:ext>
            </a:extLst>
          </p:cNvPr>
          <p:cNvCxnSpPr/>
          <p:nvPr/>
        </p:nvCxnSpPr>
        <p:spPr>
          <a:xfrm flipH="1">
            <a:off x="4301868" y="1247856"/>
            <a:ext cx="101494" cy="150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44BC9B9F-B21D-ABA7-94BE-DD92AF54C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972" y="1113270"/>
            <a:ext cx="4200028" cy="3249832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FD8A73E3-92EE-B898-F71E-AEFC4A92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4C788-D797-5E48-ACB2-C78B567F1C5B}" type="slidenum">
              <a:rPr lang="en-US" smtClean="0"/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502D83-EA76-B289-D334-ADD7AB6F76EC}"/>
              </a:ext>
            </a:extLst>
          </p:cNvPr>
          <p:cNvSpPr txBox="1"/>
          <p:nvPr/>
        </p:nvSpPr>
        <p:spPr>
          <a:xfrm>
            <a:off x="5970427" y="3821875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</a:t>
            </a:r>
            <a:r>
              <a:rPr lang="en-US" dirty="0" err="1"/>
              <a:t>Gyr</a:t>
            </a:r>
            <a:r>
              <a:rPr lang="en-US" dirty="0"/>
              <a:t>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D45D4D-BE14-E09D-FA12-79CCFB73A688}"/>
              </a:ext>
            </a:extLst>
          </p:cNvPr>
          <p:cNvSpPr txBox="1"/>
          <p:nvPr/>
        </p:nvSpPr>
        <p:spPr>
          <a:xfrm>
            <a:off x="152426" y="2317228"/>
            <a:ext cx="2004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Tracer of core to core-collapse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A3E8D4-65F3-01E4-220C-8F07C0342547}"/>
              </a:ext>
            </a:extLst>
          </p:cNvPr>
          <p:cNvSpPr txBox="1"/>
          <p:nvPr/>
        </p:nvSpPr>
        <p:spPr>
          <a:xfrm>
            <a:off x="7256565" y="-49444"/>
            <a:ext cx="50085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accent2"/>
                </a:solidFill>
              </a:rPr>
              <a:t>Getting more complicated and fun with orbits!</a:t>
            </a:r>
          </a:p>
        </p:txBody>
      </p:sp>
    </p:spTree>
    <p:extLst>
      <p:ext uri="{BB962C8B-B14F-4D97-AF65-F5344CB8AC3E}">
        <p14:creationId xmlns:p14="http://schemas.microsoft.com/office/powerpoint/2010/main" val="2250419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5272905-71FB-9062-98A2-310DD76F0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726" y="25823"/>
            <a:ext cx="4105274" cy="312915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EE76E0-68C1-76F9-48ED-0BE5C6E58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4C788-D797-5E48-ACB2-C78B567F1C5B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9E8BAE-EE5D-4A0C-F19E-1B4507DEE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3" y="3057139"/>
            <a:ext cx="4358126" cy="37464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79CB19-2D44-7F90-28EA-39B027910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924" y="3198356"/>
            <a:ext cx="4520468" cy="36052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B58123-D76F-6BC0-FB33-FDA054CEC447}"/>
              </a:ext>
            </a:extLst>
          </p:cNvPr>
          <p:cNvSpPr txBox="1"/>
          <p:nvPr/>
        </p:nvSpPr>
        <p:spPr>
          <a:xfrm>
            <a:off x="931881" y="2450158"/>
            <a:ext cx="30290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chemeClr val="bg1">
                    <a:lumMod val="65000"/>
                  </a:schemeClr>
                </a:solidFill>
              </a:rPr>
              <a:t>Subhalos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’ inner mass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DD14B5-AA29-648F-DFD9-44F727259CBB}"/>
              </a:ext>
            </a:extLst>
          </p:cNvPr>
          <p:cNvSpPr txBox="1"/>
          <p:nvPr/>
        </p:nvSpPr>
        <p:spPr>
          <a:xfrm>
            <a:off x="4870681" y="2454411"/>
            <a:ext cx="3038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chemeClr val="bg1">
                    <a:lumMod val="65000"/>
                  </a:schemeClr>
                </a:solidFill>
              </a:rPr>
              <a:t>Subhalos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’ inner slope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59394C-4DE2-532B-4437-076F3BF019BB}"/>
                  </a:ext>
                </a:extLst>
              </p:cNvPr>
              <p:cNvSpPr txBox="1"/>
              <p:nvPr/>
            </p:nvSpPr>
            <p:spPr>
              <a:xfrm>
                <a:off x="8903642" y="3581492"/>
                <a:ext cx="3333608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300" dirty="0">
                    <a:solidFill>
                      <a:srgbClr val="FF0000"/>
                    </a:solidFill>
                  </a:rPr>
                  <a:t>6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3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3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cm</m:t>
                        </m:r>
                      </m:e>
                      <m:sup>
                        <m:r>
                          <a:rPr lang="en-US" sz="23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3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3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300" dirty="0">
                    <a:solidFill>
                      <a:srgbClr val="FF0000"/>
                    </a:solidFill>
                  </a:rPr>
                  <a:t> 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Cored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subhalos</a:t>
                </a:r>
                <a:r>
                  <a:rPr lang="en-US" sz="2400" dirty="0">
                    <a:solidFill>
                      <a:srgbClr val="FF0000"/>
                    </a:solidFill>
                  </a:rPr>
                  <a:t>, evaporation</a:t>
                </a:r>
              </a:p>
              <a:p>
                <a:endParaRPr lang="en-US" sz="23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300" b="0" i="1" smtClean="0">
                              <a:solidFill>
                                <a:schemeClr val="accent5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solidFill>
                                <a:schemeClr val="accent5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300" b="0" i="1" smtClean="0">
                              <a:solidFill>
                                <a:schemeClr val="accent5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300" b="0" i="1" smtClean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=200,</m:t>
                      </m:r>
                      <m:r>
                        <a:rPr lang="en-US" sz="2300" b="0" i="1" smtClean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2300" b="0" i="1" smtClean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=50</m:t>
                      </m:r>
                    </m:oMath>
                  </m:oMathPara>
                </a14:m>
                <a:endParaRPr lang="en-US" sz="2300" dirty="0">
                  <a:solidFill>
                    <a:srgbClr val="FF66CC"/>
                  </a:solidFill>
                </a:endParaRPr>
              </a:p>
              <a:p>
                <a:pPr/>
                <a:r>
                  <a:rPr lang="en-US" sz="2300" dirty="0">
                    <a:solidFill>
                      <a:srgbClr val="FF66CC"/>
                    </a:solidFill>
                  </a:rPr>
                  <a:t>(a velocity dependent SIDM model)</a:t>
                </a:r>
              </a:p>
              <a:p>
                <a:pPr/>
                <a:r>
                  <a:rPr lang="en-US" sz="2400" dirty="0">
                    <a:solidFill>
                      <a:srgbClr val="FF66CC"/>
                    </a:solidFill>
                  </a:rPr>
                  <a:t>10-20% </a:t>
                </a:r>
                <a:r>
                  <a:rPr lang="en-US" sz="2400" dirty="0" err="1">
                    <a:solidFill>
                      <a:srgbClr val="FF66CC"/>
                    </a:solidFill>
                  </a:rPr>
                  <a:t>subhalos</a:t>
                </a:r>
                <a:r>
                  <a:rPr lang="en-US" sz="2400" dirty="0">
                    <a:solidFill>
                      <a:srgbClr val="FF66CC"/>
                    </a:solidFill>
                  </a:rPr>
                  <a:t> core-collapsed</a:t>
                </a:r>
              </a:p>
              <a:p>
                <a:pPr/>
                <a:endParaRPr lang="en-US" sz="2300" dirty="0">
                  <a:solidFill>
                    <a:srgbClr val="FF66CC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59394C-4DE2-532B-4437-076F3BF01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3642" y="3581492"/>
                <a:ext cx="3333608" cy="3693319"/>
              </a:xfrm>
              <a:prstGeom prst="rect">
                <a:avLst/>
              </a:prstGeom>
              <a:blipFill>
                <a:blip r:embed="rId5"/>
                <a:stretch>
                  <a:fillRect l="-2930" t="-11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3A018D4-5C7B-4011-580A-2C17CF0C4DEF}"/>
              </a:ext>
            </a:extLst>
          </p:cNvPr>
          <p:cNvSpPr txBox="1"/>
          <p:nvPr/>
        </p:nvSpPr>
        <p:spPr>
          <a:xfrm>
            <a:off x="207967" y="88007"/>
            <a:ext cx="43381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Population of </a:t>
            </a:r>
            <a:r>
              <a:rPr lang="en-US" sz="4000" dirty="0" err="1"/>
              <a:t>subhalos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140F09-9245-B62B-0E66-BEDCFD75880B}"/>
              </a:ext>
            </a:extLst>
          </p:cNvPr>
          <p:cNvSpPr txBox="1"/>
          <p:nvPr/>
        </p:nvSpPr>
        <p:spPr>
          <a:xfrm>
            <a:off x="707566" y="1587516"/>
            <a:ext cx="76771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Main features of core-collapse happening:</a:t>
            </a:r>
          </a:p>
          <a:p>
            <a:r>
              <a:rPr lang="en-US" sz="2400" dirty="0"/>
              <a:t> (near the center) </a:t>
            </a:r>
            <a:r>
              <a:rPr lang="en-US" sz="2400" b="1" dirty="0"/>
              <a:t>denser, hotter, steeper density slope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39F89C-17A4-7D34-21D3-2A397E6AF60A}"/>
              </a:ext>
            </a:extLst>
          </p:cNvPr>
          <p:cNvSpPr txBox="1"/>
          <p:nvPr/>
        </p:nvSpPr>
        <p:spPr>
          <a:xfrm>
            <a:off x="8903642" y="3150605"/>
            <a:ext cx="7970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CDM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A9848A-3D02-09EB-3B55-1E1F5D9F19AD}"/>
              </a:ext>
            </a:extLst>
          </p:cNvPr>
          <p:cNvSpPr txBox="1"/>
          <p:nvPr/>
        </p:nvSpPr>
        <p:spPr>
          <a:xfrm>
            <a:off x="11658600" y="-7010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7E669F-C870-61F4-FCAF-A0C55BD05706}"/>
              </a:ext>
            </a:extLst>
          </p:cNvPr>
          <p:cNvSpPr txBox="1"/>
          <p:nvPr/>
        </p:nvSpPr>
        <p:spPr>
          <a:xfrm>
            <a:off x="11658600" y="-12649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988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EE6EC8-F32E-BBB9-66E5-6BD055CD169A}"/>
              </a:ext>
            </a:extLst>
          </p:cNvPr>
          <p:cNvSpPr txBox="1"/>
          <p:nvPr/>
        </p:nvSpPr>
        <p:spPr>
          <a:xfrm>
            <a:off x="742950" y="1571625"/>
            <a:ext cx="1085850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Now we see diversity in SIDM (sub)halos</a:t>
            </a:r>
          </a:p>
          <a:p>
            <a:r>
              <a:rPr lang="en-US" sz="3000" dirty="0"/>
              <a:t>…how much is this diversity propagated to observable properties of dwarf galaxies?</a:t>
            </a:r>
          </a:p>
          <a:p>
            <a:endParaRPr lang="en-US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Simulation with two species of particles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Dark matter (</a:t>
            </a:r>
            <a:r>
              <a:rPr lang="en-US" sz="2600" dirty="0" err="1"/>
              <a:t>gravity+self-interaction</a:t>
            </a:r>
            <a:r>
              <a:rPr lang="en-US" sz="26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Stars (gravity)</a:t>
            </a:r>
          </a:p>
        </p:txBody>
      </p:sp>
    </p:spTree>
    <p:extLst>
      <p:ext uri="{BB962C8B-B14F-4D97-AF65-F5344CB8AC3E}">
        <p14:creationId xmlns:p14="http://schemas.microsoft.com/office/powerpoint/2010/main" val="1679422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A1F909B-7451-00A4-A0C2-B33FD3837589}"/>
              </a:ext>
            </a:extLst>
          </p:cNvPr>
          <p:cNvGrpSpPr/>
          <p:nvPr/>
        </p:nvGrpSpPr>
        <p:grpSpPr>
          <a:xfrm>
            <a:off x="3274136" y="67676"/>
            <a:ext cx="7445842" cy="6722648"/>
            <a:chOff x="3018502" y="67676"/>
            <a:chExt cx="7445842" cy="672264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6819A3C-D9A5-EDEC-9FE5-7A31A9F09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18502" y="67676"/>
              <a:ext cx="7445842" cy="6722648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3874C88-BB32-D1D7-9B5B-A8D783331BC0}"/>
                </a:ext>
              </a:extLst>
            </p:cNvPr>
            <p:cNvSpPr/>
            <p:nvPr/>
          </p:nvSpPr>
          <p:spPr>
            <a:xfrm>
              <a:off x="7574306" y="2487562"/>
              <a:ext cx="2683561" cy="71953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D6B4D9-A1C5-65E7-6762-7ECAD8FE4D1E}"/>
                </a:ext>
              </a:extLst>
            </p:cNvPr>
            <p:cNvSpPr/>
            <p:nvPr/>
          </p:nvSpPr>
          <p:spPr>
            <a:xfrm>
              <a:off x="7117106" y="791497"/>
              <a:ext cx="3049449" cy="1086464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015537C-880A-8A8A-4ED9-3E77BDA4C8B3}"/>
              </a:ext>
            </a:extLst>
          </p:cNvPr>
          <p:cNvSpPr txBox="1"/>
          <p:nvPr/>
        </p:nvSpPr>
        <p:spPr>
          <a:xfrm>
            <a:off x="10570275" y="2477996"/>
            <a:ext cx="1663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DM-free galaxy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52FE75-EF20-A412-98C9-0DAA205EA9F7}"/>
              </a:ext>
            </a:extLst>
          </p:cNvPr>
          <p:cNvSpPr txBox="1"/>
          <p:nvPr/>
        </p:nvSpPr>
        <p:spPr>
          <a:xfrm>
            <a:off x="10611826" y="954631"/>
            <a:ext cx="18484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Evaporation induced size boost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3E4DC77-9D73-56F5-8718-C654D30192DF}"/>
                  </a:ext>
                </a:extLst>
              </p:cNvPr>
              <p:cNvSpPr txBox="1"/>
              <p:nvPr/>
            </p:nvSpPr>
            <p:spPr>
              <a:xfrm>
                <a:off x="0" y="611256"/>
                <a:ext cx="3510116" cy="52926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Time evolution: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h𝑎𝑙𝑓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Core-creation: ~50% increase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evaporation: ~3 times; but temporary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Eventually forming DM-free galaxies/star-clusters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Core-collapse: Accelerated size-shrinking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3E4DC77-9D73-56F5-8718-C654D3019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11256"/>
                <a:ext cx="3510116" cy="5292603"/>
              </a:xfrm>
              <a:prstGeom prst="rect">
                <a:avLst/>
              </a:prstGeom>
              <a:blipFill>
                <a:blip r:embed="rId3"/>
                <a:stretch>
                  <a:fillRect l="-2604" t="-691" b="-1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FA83D3A-33BD-BF6A-29EC-DDED166E74B2}"/>
              </a:ext>
            </a:extLst>
          </p:cNvPr>
          <p:cNvCxnSpPr/>
          <p:nvPr/>
        </p:nvCxnSpPr>
        <p:spPr>
          <a:xfrm>
            <a:off x="5643717" y="427703"/>
            <a:ext cx="0" cy="786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145103B-9A58-D666-EC50-3F4938122AAA}"/>
              </a:ext>
            </a:extLst>
          </p:cNvPr>
          <p:cNvSpPr txBox="1"/>
          <p:nvPr/>
        </p:nvSpPr>
        <p:spPr>
          <a:xfrm>
            <a:off x="4841795" y="611256"/>
            <a:ext cx="893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closer orbit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66C7A3-B29E-E0F3-F195-50DDB4296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59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B78AA81-6AA5-E12F-9CED-993C4136BCBB}"/>
              </a:ext>
            </a:extLst>
          </p:cNvPr>
          <p:cNvGrpSpPr/>
          <p:nvPr/>
        </p:nvGrpSpPr>
        <p:grpSpPr>
          <a:xfrm>
            <a:off x="1834797" y="1351508"/>
            <a:ext cx="6775803" cy="5506492"/>
            <a:chOff x="2399071" y="1200329"/>
            <a:chExt cx="7164840" cy="565767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D3BB526-B692-90E4-F578-C116D34C82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28089" y="1200329"/>
              <a:ext cx="6935822" cy="5292491"/>
            </a:xfrm>
            <a:prstGeom prst="rect">
              <a:avLst/>
            </a:prstGeom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2783013-6BC3-31D9-1BD8-E489F2B5DF2D}"/>
                </a:ext>
              </a:extLst>
            </p:cNvPr>
            <p:cNvSpPr/>
            <p:nvPr/>
          </p:nvSpPr>
          <p:spPr>
            <a:xfrm>
              <a:off x="4501720" y="5771536"/>
              <a:ext cx="4042511" cy="1086464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BB0E062-154F-F9B5-DEF1-22C28785D876}"/>
                </a:ext>
              </a:extLst>
            </p:cNvPr>
            <p:cNvSpPr/>
            <p:nvPr/>
          </p:nvSpPr>
          <p:spPr>
            <a:xfrm rot="5400000">
              <a:off x="1413296" y="3189791"/>
              <a:ext cx="2750027" cy="778478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C58740E-4ECE-4E75-50B7-411B865683CE}"/>
              </a:ext>
            </a:extLst>
          </p:cNvPr>
          <p:cNvSpPr txBox="1"/>
          <p:nvPr/>
        </p:nvSpPr>
        <p:spPr>
          <a:xfrm>
            <a:off x="648402" y="365180"/>
            <a:ext cx="103932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Stellar properties: the tidal-track approach</a:t>
            </a:r>
          </a:p>
          <a:p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7B0FF-186E-08EB-8F60-4B1934194AE1}"/>
              </a:ext>
            </a:extLst>
          </p:cNvPr>
          <p:cNvSpPr txBox="1"/>
          <p:nvPr/>
        </p:nvSpPr>
        <p:spPr>
          <a:xfrm>
            <a:off x="7646286" y="6117857"/>
            <a:ext cx="31266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The tracer that demands lower resolution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9D47FD-0757-5E81-A813-756C5153F9C2}"/>
              </a:ext>
            </a:extLst>
          </p:cNvPr>
          <p:cNvSpPr txBox="1"/>
          <p:nvPr/>
        </p:nvSpPr>
        <p:spPr>
          <a:xfrm>
            <a:off x="-78659" y="2648006"/>
            <a:ext cx="212376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solidFill>
                  <a:schemeClr val="bg1">
                    <a:lumMod val="65000"/>
                  </a:schemeClr>
                </a:solidFill>
              </a:rPr>
              <a:t>Observable – but demands higher resolution to simulate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B966D4-A98E-94D6-CDEA-601F3576E257}"/>
              </a:ext>
            </a:extLst>
          </p:cNvPr>
          <p:cNvSpPr txBox="1"/>
          <p:nvPr/>
        </p:nvSpPr>
        <p:spPr>
          <a:xfrm>
            <a:off x="8485632" y="1745587"/>
            <a:ext cx="370636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Diversity: larger span than CDM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Universality: the evolution tracks are highly interpretable, maybe parameterizable too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Fitting “tidal tracks” </a:t>
            </a:r>
            <a:r>
              <a:rPr lang="en-US" sz="2200" dirty="0">
                <a:sym typeface="Wingdings" panose="05000000000000000000" pitchFamily="2" charset="2"/>
              </a:rPr>
              <a:t> a cost-efficient approach for future large-scale sims</a:t>
            </a:r>
            <a:endParaRPr lang="en-US" sz="2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D26C21-A11F-2CB1-14CC-BA34A2C81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33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C9C575-2ACA-3BE0-85A6-F8FC47688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22" y="1904806"/>
            <a:ext cx="5151236" cy="38916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274393-CDFD-C028-F35E-CF69E7FA8FDD}"/>
              </a:ext>
            </a:extLst>
          </p:cNvPr>
          <p:cNvSpPr txBox="1"/>
          <p:nvPr/>
        </p:nvSpPr>
        <p:spPr>
          <a:xfrm>
            <a:off x="540247" y="364743"/>
            <a:ext cx="103932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SIDM produced diversity in stellar mass-size plane</a:t>
            </a:r>
          </a:p>
          <a:p>
            <a:endParaRPr lang="en-US" sz="3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D44D20-D981-0C39-8AB6-61D10B3F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 descr="A diagram of a graph&#10;&#10;Description automatically generated">
            <a:extLst>
              <a:ext uri="{FF2B5EF4-FFF2-40B4-BE49-F238E27FC236}">
                <a16:creationId xmlns:a16="http://schemas.microsoft.com/office/drawing/2014/main" id="{9CE81E29-DF65-0363-0513-C87A6E9864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712" y="2149847"/>
            <a:ext cx="4514088" cy="32437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50D5D1-5E62-A8C5-99CA-0391149F8B26}"/>
              </a:ext>
            </a:extLst>
          </p:cNvPr>
          <p:cNvSpPr txBox="1"/>
          <p:nvPr/>
        </p:nvSpPr>
        <p:spPr>
          <a:xfrm>
            <a:off x="6656832" y="5393553"/>
            <a:ext cx="5416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Same as the left, but a first, preliminary comparison with observations</a:t>
            </a:r>
          </a:p>
        </p:txBody>
      </p:sp>
    </p:spTree>
    <p:extLst>
      <p:ext uri="{BB962C8B-B14F-4D97-AF65-F5344CB8AC3E}">
        <p14:creationId xmlns:p14="http://schemas.microsoft.com/office/powerpoint/2010/main" val="2732087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B31835-90B3-33B0-3E81-DC0AB861A33D}"/>
              </a:ext>
            </a:extLst>
          </p:cNvPr>
          <p:cNvSpPr txBox="1"/>
          <p:nvPr/>
        </p:nvSpPr>
        <p:spPr>
          <a:xfrm>
            <a:off x="838200" y="625296"/>
            <a:ext cx="103932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Take away messages</a:t>
            </a:r>
          </a:p>
          <a:p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62DAD-21A0-12E9-1C2A-89572EED9946}"/>
              </a:ext>
            </a:extLst>
          </p:cNvPr>
          <p:cNvSpPr txBox="1">
            <a:spLocks/>
          </p:cNvSpPr>
          <p:nvPr/>
        </p:nvSpPr>
        <p:spPr>
          <a:xfrm>
            <a:off x="838200" y="1718437"/>
            <a:ext cx="9665208" cy="51395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SIDM halos have unique core to core-collapse evolution</a:t>
            </a:r>
          </a:p>
          <a:p>
            <a:r>
              <a:rPr lang="en-US" dirty="0"/>
              <a:t>This brings natural diversity in halos’ inner density/mass</a:t>
            </a:r>
          </a:p>
          <a:p>
            <a:r>
              <a:rPr lang="en-US" dirty="0"/>
              <a:t>Even larger diversity if orbiting host halos</a:t>
            </a:r>
          </a:p>
          <a:p>
            <a:endParaRPr lang="en-US" dirty="0"/>
          </a:p>
          <a:p>
            <a:r>
              <a:rPr lang="en-US" dirty="0"/>
              <a:t>Not only in DM components, this diversity is also propagated (in part) to stellar components</a:t>
            </a:r>
          </a:p>
          <a:p>
            <a:r>
              <a:rPr lang="en-US" dirty="0">
                <a:sym typeface="Wingdings" panose="05000000000000000000" pitchFamily="2" charset="2"/>
              </a:rPr>
              <a:t> future: look into whether/what SIDM models can explain the full diversity problem in statistics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60F18-A8ED-E27D-E89D-9CDE271B9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532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2FF932-9CAD-002B-FD97-372757D66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251" y="1536192"/>
            <a:ext cx="4829748" cy="39718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8F133A-E6B7-7499-6605-8CACC7601485}"/>
              </a:ext>
            </a:extLst>
          </p:cNvPr>
          <p:cNvSpPr txBox="1">
            <a:spLocks/>
          </p:cNvSpPr>
          <p:nvPr/>
        </p:nvSpPr>
        <p:spPr>
          <a:xfrm>
            <a:off x="272922" y="298682"/>
            <a:ext cx="10519299" cy="8312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/>
              <a:t>Method: controlled simulation + hybrid method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A9A3A1-B5FD-3DD1-9BA0-D3F4AAB44C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240" y="1185186"/>
                <a:ext cx="7314392" cy="567281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The system: an isolated host + its </a:t>
                </a:r>
                <a:r>
                  <a:rPr lang="en-US" sz="2400" dirty="0" err="1"/>
                  <a:t>subhalo</a:t>
                </a:r>
                <a:r>
                  <a:rPr lang="en-US" sz="2400" dirty="0"/>
                  <a:t>(s)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We focus on the low-mass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subhalos</a:t>
                </a:r>
                <a:endParaRPr lang="en-US" sz="2400" dirty="0"/>
              </a:p>
              <a:p>
                <a:r>
                  <a:rPr lang="en-US" sz="2400" dirty="0"/>
                  <a:t>Very expensive if simulation particles for both host and </a:t>
                </a:r>
                <a:r>
                  <a:rPr lang="en-US" sz="2400" dirty="0" err="1"/>
                  <a:t>subhalos</a:t>
                </a:r>
                <a:endParaRPr lang="en-US" sz="2400" dirty="0"/>
              </a:p>
              <a:p>
                <a:pPr lvl="1"/>
                <a:r>
                  <a:rPr lang="en-US" sz="2000" dirty="0"/>
                  <a:t>Host mass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subhalo</a:t>
                </a:r>
                <a:r>
                  <a:rPr lang="en-US" sz="2000" dirty="0"/>
                  <a:t> mass</a:t>
                </a:r>
              </a:p>
              <a:p>
                <a:pPr lvl="1"/>
                <a:r>
                  <a:rPr lang="en-US" sz="2000" dirty="0"/>
                  <a:t>Core-collapse requires orders of magnitude more </a:t>
                </a:r>
                <a:r>
                  <a:rPr lang="en-US" sz="2000" dirty="0" err="1"/>
                  <a:t>CPUh</a:t>
                </a:r>
                <a:endParaRPr lang="en-US" dirty="0"/>
              </a:p>
              <a:p>
                <a:r>
                  <a:rPr lang="en-US" sz="2400" dirty="0"/>
                  <a:t>Thus we do </a:t>
                </a:r>
                <a:r>
                  <a:rPr lang="en-US" sz="2400" dirty="0">
                    <a:solidFill>
                      <a:srgbClr val="FF0000"/>
                    </a:solidFill>
                  </a:rPr>
                  <a:t>analytic host + particle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subhalo</a:t>
                </a:r>
                <a:r>
                  <a:rPr lang="en-US" sz="2400" dirty="0">
                    <a:solidFill>
                      <a:srgbClr val="FF0000"/>
                    </a:solidFill>
                  </a:rPr>
                  <a:t> -- hybrid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sz="2200" dirty="0"/>
                  <a:t>Host: analytic mass &amp; velocity distribution</a:t>
                </a:r>
              </a:p>
              <a:p>
                <a:pPr lvl="1"/>
                <a:r>
                  <a:rPr lang="en-US" sz="2200" dirty="0"/>
                  <a:t>Capture the host-</a:t>
                </a:r>
                <a:r>
                  <a:rPr lang="en-US" sz="2200" dirty="0" err="1"/>
                  <a:t>subhalo</a:t>
                </a:r>
                <a:r>
                  <a:rPr lang="en-US" sz="2200" dirty="0"/>
                  <a:t> interaction</a:t>
                </a:r>
              </a:p>
              <a:p>
                <a:pPr lvl="2"/>
                <a:r>
                  <a:rPr lang="en-US" dirty="0"/>
                  <a:t>Tidal force --- already mature </a:t>
                </a:r>
              </a:p>
              <a:p>
                <a:pPr lvl="2"/>
                <a:r>
                  <a:rPr lang="en-US" dirty="0">
                    <a:solidFill>
                      <a:srgbClr val="FF0000"/>
                    </a:solidFill>
                  </a:rPr>
                  <a:t>Evaporation</a:t>
                </a:r>
                <a:r>
                  <a:rPr lang="en-US" dirty="0"/>
                  <a:t>: self-interaction of host-sub particle pair</a:t>
                </a:r>
              </a:p>
              <a:p>
                <a:pPr lvl="3"/>
                <a:r>
                  <a:rPr lang="en-US" dirty="0"/>
                  <a:t>Semi-analytically calculated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A9A3A1-B5FD-3DD1-9BA0-D3F4AAB44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40" y="1185186"/>
                <a:ext cx="7314392" cy="5672814"/>
              </a:xfrm>
              <a:prstGeom prst="rect">
                <a:avLst/>
              </a:prstGeom>
              <a:blipFill>
                <a:blip r:embed="rId4"/>
                <a:stretch>
                  <a:fillRect l="-1167" t="-1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3E718-B95C-3593-472E-D40329AB6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71D083-CFCB-2E1A-FF07-86678C8C77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3432" y="5460407"/>
            <a:ext cx="2057578" cy="70872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706F936-CE5A-E6D6-97E1-1438BA8C2C3B}"/>
              </a:ext>
            </a:extLst>
          </p:cNvPr>
          <p:cNvGrpSpPr/>
          <p:nvPr/>
        </p:nvGrpSpPr>
        <p:grpSpPr>
          <a:xfrm>
            <a:off x="623081" y="5960518"/>
            <a:ext cx="5283665" cy="698219"/>
            <a:chOff x="895118" y="5838004"/>
            <a:chExt cx="5733947" cy="84772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617BC49-8A13-0647-D5A7-4C185DBE0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47765" y="5838004"/>
              <a:ext cx="2781300" cy="84772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8DC5EC0-713B-1EBC-2CEA-D4F2A5B7B95A}"/>
                </a:ext>
              </a:extLst>
            </p:cNvPr>
            <p:cNvSpPr txBox="1"/>
            <p:nvPr/>
          </p:nvSpPr>
          <p:spPr>
            <a:xfrm>
              <a:off x="895118" y="6119518"/>
              <a:ext cx="3092685" cy="4484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For each </a:t>
              </a:r>
              <a:r>
                <a:rPr lang="en-US" dirty="0" err="1"/>
                <a:t>subhalo</a:t>
              </a:r>
              <a:r>
                <a:rPr lang="en-US" dirty="0"/>
                <a:t> particle: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F95CB17-0F17-D369-556E-BA3F037A1C5E}"/>
              </a:ext>
            </a:extLst>
          </p:cNvPr>
          <p:cNvSpPr txBox="1"/>
          <p:nvPr/>
        </p:nvSpPr>
        <p:spPr>
          <a:xfrm>
            <a:off x="5935888" y="5786255"/>
            <a:ext cx="32864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B0F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Reduces </a:t>
            </a:r>
            <a:r>
              <a:rPr lang="en-US" sz="2000" dirty="0" err="1">
                <a:solidFill>
                  <a:srgbClr val="00B0F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CPUh</a:t>
            </a:r>
            <a:r>
              <a:rPr lang="en-US" sz="2000" dirty="0">
                <a:solidFill>
                  <a:srgbClr val="00B0F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by &gt; 2 </a:t>
            </a:r>
            <a:r>
              <a:rPr lang="en-US" sz="2000" dirty="0" err="1">
                <a:solidFill>
                  <a:srgbClr val="00B0F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dex</a:t>
            </a:r>
            <a:endParaRPr lang="en-US" sz="2000" dirty="0">
              <a:solidFill>
                <a:srgbClr val="00B0F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875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41F7C8-C012-BA15-F0AB-3FAA5CCAD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4C788-D797-5E48-ACB2-C78B567F1C5B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69ABEF-57EB-6E94-7A56-7F81BBF1706C}"/>
              </a:ext>
            </a:extLst>
          </p:cNvPr>
          <p:cNvSpPr txBox="1"/>
          <p:nvPr/>
        </p:nvSpPr>
        <p:spPr>
          <a:xfrm>
            <a:off x="7838375" y="1982450"/>
            <a:ext cx="399403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SIDM core-collapse in </a:t>
            </a:r>
            <a:r>
              <a:rPr lang="en-US" sz="2200" dirty="0" err="1"/>
              <a:t>subhalos</a:t>
            </a:r>
            <a:r>
              <a:rPr lang="en-US" sz="2200" dirty="0"/>
              <a:t> can explain ultra-steep inner slope in </a:t>
            </a:r>
            <a:r>
              <a:rPr lang="en-US" sz="2200" dirty="0" err="1"/>
              <a:t>subhalos</a:t>
            </a:r>
            <a:r>
              <a:rPr lang="en-US" sz="2200" dirty="0"/>
              <a:t> found by lensing with Hubble Space Telescope (13 images)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D501B3-8285-CA0A-AC0A-325E9EA5B4DD}"/>
              </a:ext>
            </a:extLst>
          </p:cNvPr>
          <p:cNvSpPr txBox="1"/>
          <p:nvPr/>
        </p:nvSpPr>
        <p:spPr>
          <a:xfrm>
            <a:off x="10053273" y="3749266"/>
            <a:ext cx="2138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Zhang+ 2308.09739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1C58E4-6A1C-DB33-1E94-B65FB1A33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135" y="1589665"/>
            <a:ext cx="6253619" cy="47666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D201B1-1CD8-AC17-BECC-E2DB21F980CF}"/>
              </a:ext>
            </a:extLst>
          </p:cNvPr>
          <p:cNvSpPr txBox="1"/>
          <p:nvPr/>
        </p:nvSpPr>
        <p:spPr>
          <a:xfrm>
            <a:off x="207967" y="88007"/>
            <a:ext cx="57700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Population of </a:t>
            </a:r>
            <a:r>
              <a:rPr lang="en-US" sz="4000" dirty="0" err="1"/>
              <a:t>subhalos</a:t>
            </a:r>
            <a:endParaRPr 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3993D9-FB78-1637-2BC3-C21E18CAA0C1}"/>
              </a:ext>
            </a:extLst>
          </p:cNvPr>
          <p:cNvSpPr txBox="1"/>
          <p:nvPr/>
        </p:nvSpPr>
        <p:spPr>
          <a:xfrm>
            <a:off x="5978013" y="6243484"/>
            <a:ext cx="1109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 t=9Gyr</a:t>
            </a:r>
          </a:p>
        </p:txBody>
      </p:sp>
    </p:spTree>
    <p:extLst>
      <p:ext uri="{BB962C8B-B14F-4D97-AF65-F5344CB8AC3E}">
        <p14:creationId xmlns:p14="http://schemas.microsoft.com/office/powerpoint/2010/main" val="3125874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DA1D6F-F22C-6F3C-F258-398FE6756B30}"/>
              </a:ext>
            </a:extLst>
          </p:cNvPr>
          <p:cNvSpPr txBox="1"/>
          <p:nvPr/>
        </p:nvSpPr>
        <p:spPr>
          <a:xfrm>
            <a:off x="648402" y="365180"/>
            <a:ext cx="103932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How do stars respond to SIDM core to core-collapse and orbital effects?</a:t>
            </a:r>
          </a:p>
          <a:p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0A68FC4-96BA-88F1-47F0-F69EC3E8431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24919" y="2795136"/>
              <a:ext cx="7499956" cy="2220532"/>
            </p:xfrm>
            <a:graphic>
              <a:graphicData uri="http://schemas.openxmlformats.org/drawingml/2006/table">
                <a:tbl>
                  <a:tblPr firstRow="1">
                    <a:tableStyleId>{616DA210-FB5B-4158-B5E0-FEB733F419BA}</a:tableStyleId>
                  </a:tblPr>
                  <a:tblGrid>
                    <a:gridCol w="1757098">
                      <a:extLst>
                        <a:ext uri="{9D8B030D-6E8A-4147-A177-3AD203B41FA5}">
                          <a16:colId xmlns:a16="http://schemas.microsoft.com/office/drawing/2014/main" val="3225327624"/>
                        </a:ext>
                      </a:extLst>
                    </a:gridCol>
                    <a:gridCol w="1903639">
                      <a:extLst>
                        <a:ext uri="{9D8B030D-6E8A-4147-A177-3AD203B41FA5}">
                          <a16:colId xmlns:a16="http://schemas.microsoft.com/office/drawing/2014/main" val="3763900876"/>
                        </a:ext>
                      </a:extLst>
                    </a:gridCol>
                    <a:gridCol w="2197303">
                      <a:extLst>
                        <a:ext uri="{9D8B030D-6E8A-4147-A177-3AD203B41FA5}">
                          <a16:colId xmlns:a16="http://schemas.microsoft.com/office/drawing/2014/main" val="1697066558"/>
                        </a:ext>
                      </a:extLst>
                    </a:gridCol>
                    <a:gridCol w="1641916">
                      <a:extLst>
                        <a:ext uri="{9D8B030D-6E8A-4147-A177-3AD203B41FA5}">
                          <a16:colId xmlns:a16="http://schemas.microsoft.com/office/drawing/2014/main" val="3317148263"/>
                        </a:ext>
                      </a:extLst>
                    </a:gridCol>
                  </a:tblGrid>
                  <a:tr h="366502"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Inner DM mass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Inner stellar mass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Stellar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𝒉𝒂𝒍𝒇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03517043"/>
                      </a:ext>
                    </a:extLst>
                  </a:tr>
                  <a:tr h="3469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Core-creation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145749331"/>
                      </a:ext>
                    </a:extLst>
                  </a:tr>
                  <a:tr h="3469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Core-collapse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++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546733217"/>
                      </a:ext>
                    </a:extLst>
                  </a:tr>
                  <a:tr h="3469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Tidal stripping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521691762"/>
                      </a:ext>
                    </a:extLst>
                  </a:tr>
                  <a:tr h="3469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Evaporation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---</a:t>
                          </a: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  <a:r>
                            <a:rPr lang="en-US" sz="2400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then</a:t>
                          </a:r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--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  ++ </a:t>
                          </a:r>
                          <a:r>
                            <a:rPr lang="en-US" sz="2200" dirty="0"/>
                            <a:t>then</a:t>
                          </a:r>
                          <a:r>
                            <a:rPr lang="en-US" sz="2400" dirty="0"/>
                            <a:t> </a:t>
                          </a:r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--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694008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0A68FC4-96BA-88F1-47F0-F69EC3E843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4946699"/>
                  </p:ext>
                </p:extLst>
              </p:nvPr>
            </p:nvGraphicFramePr>
            <p:xfrm>
              <a:off x="2024919" y="2795136"/>
              <a:ext cx="7499956" cy="2220532"/>
            </p:xfrm>
            <a:graphic>
              <a:graphicData uri="http://schemas.openxmlformats.org/drawingml/2006/table">
                <a:tbl>
                  <a:tblPr firstRow="1">
                    <a:tableStyleId>{616DA210-FB5B-4158-B5E0-FEB733F419BA}</a:tableStyleId>
                  </a:tblPr>
                  <a:tblGrid>
                    <a:gridCol w="1757098">
                      <a:extLst>
                        <a:ext uri="{9D8B030D-6E8A-4147-A177-3AD203B41FA5}">
                          <a16:colId xmlns:a16="http://schemas.microsoft.com/office/drawing/2014/main" val="3225327624"/>
                        </a:ext>
                      </a:extLst>
                    </a:gridCol>
                    <a:gridCol w="1903639">
                      <a:extLst>
                        <a:ext uri="{9D8B030D-6E8A-4147-A177-3AD203B41FA5}">
                          <a16:colId xmlns:a16="http://schemas.microsoft.com/office/drawing/2014/main" val="3763900876"/>
                        </a:ext>
                      </a:extLst>
                    </a:gridCol>
                    <a:gridCol w="2197303">
                      <a:extLst>
                        <a:ext uri="{9D8B030D-6E8A-4147-A177-3AD203B41FA5}">
                          <a16:colId xmlns:a16="http://schemas.microsoft.com/office/drawing/2014/main" val="1697066558"/>
                        </a:ext>
                      </a:extLst>
                    </a:gridCol>
                    <a:gridCol w="1641916">
                      <a:extLst>
                        <a:ext uri="{9D8B030D-6E8A-4147-A177-3AD203B41FA5}">
                          <a16:colId xmlns:a16="http://schemas.microsoft.com/office/drawing/2014/main" val="3317148263"/>
                        </a:ext>
                      </a:extLst>
                    </a:gridCol>
                  </a:tblGrid>
                  <a:tr h="391732"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Inner DM mass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Inner stellar mass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357621" t="-6250" r="-743" b="-5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51704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Core-creation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1457493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Core-collapse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++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54673321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Tidal stripping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52169176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Evaporation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---</a:t>
                          </a: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  <a:r>
                            <a:rPr lang="en-US" sz="2400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then</a:t>
                          </a:r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--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  ++ </a:t>
                          </a:r>
                          <a:r>
                            <a:rPr lang="en-US" sz="2200" dirty="0"/>
                            <a:t>then</a:t>
                          </a:r>
                          <a:r>
                            <a:rPr lang="en-US" sz="2400" dirty="0"/>
                            <a:t> </a:t>
                          </a:r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--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6940086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9D7445F-269D-A543-B390-5C8E7BA26E1E}"/>
              </a:ext>
            </a:extLst>
          </p:cNvPr>
          <p:cNvSpPr txBox="1"/>
          <p:nvPr/>
        </p:nvSpPr>
        <p:spPr>
          <a:xfrm>
            <a:off x="2133074" y="2749722"/>
            <a:ext cx="1566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(Qualitatively)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716111-ACC4-67E4-85E4-8AFF336DBAFD}"/>
                  </a:ext>
                </a:extLst>
              </p:cNvPr>
              <p:cNvSpPr txBox="1"/>
              <p:nvPr/>
            </p:nvSpPr>
            <p:spPr>
              <a:xfrm>
                <a:off x="2718567" y="2188970"/>
                <a:ext cx="6137065" cy="491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‘Inner’ defined at the initial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h𝑎𝑙𝑓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</m:oMath>
                </a14:m>
                <a:r>
                  <a:rPr lang="en-US" sz="2400" dirty="0"/>
                  <a:t> in this work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716111-ACC4-67E4-85E4-8AFF336DB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567" y="2188970"/>
                <a:ext cx="6137065" cy="491288"/>
              </a:xfrm>
              <a:prstGeom prst="rect">
                <a:avLst/>
              </a:prstGeom>
              <a:blipFill>
                <a:blip r:embed="rId3"/>
                <a:stretch>
                  <a:fillRect l="-1589" t="-7407" r="-596" b="-23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748B9-77E8-917C-7475-F227BCAC2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70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25F6E5B-083A-F866-90C2-422868F8BE78}"/>
              </a:ext>
            </a:extLst>
          </p:cNvPr>
          <p:cNvGrpSpPr/>
          <p:nvPr/>
        </p:nvGrpSpPr>
        <p:grpSpPr>
          <a:xfrm>
            <a:off x="3110184" y="119396"/>
            <a:ext cx="7609794" cy="6738604"/>
            <a:chOff x="2903707" y="59698"/>
            <a:chExt cx="7609794" cy="673860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78ADB84-D4C1-ACEC-9B93-6C10EC9C5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03707" y="59698"/>
              <a:ext cx="7609794" cy="6738604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1BD8EB1-53E3-8A29-1387-2069AB1B7339}"/>
                </a:ext>
              </a:extLst>
            </p:cNvPr>
            <p:cNvSpPr/>
            <p:nvPr/>
          </p:nvSpPr>
          <p:spPr>
            <a:xfrm>
              <a:off x="7731617" y="2458065"/>
              <a:ext cx="2683561" cy="71953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F5B40E1-D3FF-599F-FC60-22B2BD0EDA67}"/>
              </a:ext>
            </a:extLst>
          </p:cNvPr>
          <p:cNvSpPr txBox="1"/>
          <p:nvPr/>
        </p:nvSpPr>
        <p:spPr>
          <a:xfrm>
            <a:off x="10562661" y="2633165"/>
            <a:ext cx="1663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DM-free galaxy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5072EE-C719-D309-7EF3-B3AF441B2108}"/>
                  </a:ext>
                </a:extLst>
              </p:cNvPr>
              <p:cNvSpPr txBox="1"/>
              <p:nvPr/>
            </p:nvSpPr>
            <p:spPr>
              <a:xfrm>
                <a:off x="-77092" y="457402"/>
                <a:ext cx="3538046" cy="6031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Time evolution: mass-light ratio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Defined by total mass/stellar mass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h𝑎𝑙𝑓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not core-collapse: monotonically decreasing (more baryon-dominated)</a:t>
                </a:r>
              </a:p>
              <a:p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Core-collapse: increases again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DM-free objects form easily with evaporation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5072EE-C719-D309-7EF3-B3AF441B2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7092" y="457402"/>
                <a:ext cx="3538046" cy="6031266"/>
              </a:xfrm>
              <a:prstGeom prst="rect">
                <a:avLst/>
              </a:prstGeom>
              <a:blipFill>
                <a:blip r:embed="rId3"/>
                <a:stretch>
                  <a:fillRect l="-2582" t="-809" r="-1205" b="-1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31D01A-0183-2E55-C560-8B6E587B0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514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B56D74-7DEE-E3D9-C033-EE55F62DC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45" y="1740310"/>
            <a:ext cx="5897383" cy="44641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D1DECE-93A9-FF86-9CCA-F50103E17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374" y="1820853"/>
            <a:ext cx="5767587" cy="43836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5FDFC0-C38D-F95A-18A5-F27AC3A3AA58}"/>
              </a:ext>
            </a:extLst>
          </p:cNvPr>
          <p:cNvSpPr txBox="1"/>
          <p:nvPr/>
        </p:nvSpPr>
        <p:spPr>
          <a:xfrm>
            <a:off x="491086" y="286522"/>
            <a:ext cx="103932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Stellar properties: the tidal-track approach</a:t>
            </a:r>
          </a:p>
          <a:p>
            <a:endParaRPr 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BF3080-58F5-67C0-A92B-97F8A4412133}"/>
              </a:ext>
            </a:extLst>
          </p:cNvPr>
          <p:cNvSpPr txBox="1"/>
          <p:nvPr/>
        </p:nvSpPr>
        <p:spPr>
          <a:xfrm>
            <a:off x="1612490" y="1297858"/>
            <a:ext cx="35675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Radial velocity dispersion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9F9C07-0D0D-7E9E-37A1-205E999B2088}"/>
              </a:ext>
            </a:extLst>
          </p:cNvPr>
          <p:cNvSpPr txBox="1"/>
          <p:nvPr/>
        </p:nvSpPr>
        <p:spPr>
          <a:xfrm>
            <a:off x="8353260" y="1268361"/>
            <a:ext cx="22262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Mass-light ratio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DC9549-F955-9055-9FA1-FFBBCB130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8FC0D4-4DB7-A6A6-AC92-8E21DF9F9C35}"/>
              </a:ext>
            </a:extLst>
          </p:cNvPr>
          <p:cNvSpPr txBox="1"/>
          <p:nvPr/>
        </p:nvSpPr>
        <p:spPr>
          <a:xfrm>
            <a:off x="4114800" y="6153773"/>
            <a:ext cx="52395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diversity (large spanned range)</a:t>
            </a:r>
          </a:p>
          <a:p>
            <a:r>
              <a:rPr lang="en-US" sz="2200" dirty="0">
                <a:solidFill>
                  <a:srgbClr val="FF0000"/>
                </a:solidFill>
              </a:rPr>
              <a:t>&amp; universality (similar, explainable trends)</a:t>
            </a:r>
          </a:p>
        </p:txBody>
      </p:sp>
    </p:spTree>
    <p:extLst>
      <p:ext uri="{BB962C8B-B14F-4D97-AF65-F5344CB8AC3E}">
        <p14:creationId xmlns:p14="http://schemas.microsoft.com/office/powerpoint/2010/main" val="2739872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DC6B667-4C6E-964C-8D1E-4C7158FD1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8363" y="1085205"/>
            <a:ext cx="3476809" cy="5718517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79DE4D3-E64B-46C5-90D7-794E8EB9D7FB}"/>
              </a:ext>
            </a:extLst>
          </p:cNvPr>
          <p:cNvGrpSpPr/>
          <p:nvPr/>
        </p:nvGrpSpPr>
        <p:grpSpPr>
          <a:xfrm>
            <a:off x="5319686" y="1091672"/>
            <a:ext cx="3476809" cy="5718517"/>
            <a:chOff x="4832818" y="1091672"/>
            <a:chExt cx="3476809" cy="571851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E179ED4-6D0F-DD40-A478-C71569D65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32818" y="1091672"/>
              <a:ext cx="3476809" cy="5718517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66CD0A6-DE08-F84D-AEAC-3BC893E0C92D}"/>
                </a:ext>
              </a:extLst>
            </p:cNvPr>
            <p:cNvGrpSpPr/>
            <p:nvPr/>
          </p:nvGrpSpPr>
          <p:grpSpPr>
            <a:xfrm>
              <a:off x="5413313" y="4191460"/>
              <a:ext cx="682687" cy="375445"/>
              <a:chOff x="5229610" y="4191500"/>
              <a:chExt cx="682687" cy="375445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E448981B-A2F5-BA43-9F74-47ABEEFB0DC0}"/>
                  </a:ext>
                </a:extLst>
              </p:cNvPr>
              <p:cNvCxnSpPr/>
              <p:nvPr/>
            </p:nvCxnSpPr>
            <p:spPr>
              <a:xfrm flipH="1">
                <a:off x="5278061" y="4566945"/>
                <a:ext cx="58578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7940D6-DC4C-6B46-99C3-445D22A1D2C2}"/>
                  </a:ext>
                </a:extLst>
              </p:cNvPr>
              <p:cNvSpPr txBox="1"/>
              <p:nvPr/>
            </p:nvSpPr>
            <p:spPr>
              <a:xfrm>
                <a:off x="5229610" y="4191500"/>
                <a:ext cx="6826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C000"/>
                    </a:solidFill>
                  </a:rPr>
                  <a:t>Heat 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6ED8BE6-9CA4-3A4F-9DE1-53C0E3E0FD94}"/>
                </a:ext>
              </a:extLst>
            </p:cNvPr>
            <p:cNvGrpSpPr/>
            <p:nvPr/>
          </p:nvGrpSpPr>
          <p:grpSpPr>
            <a:xfrm>
              <a:off x="7136095" y="4161122"/>
              <a:ext cx="682687" cy="399710"/>
              <a:chOff x="6182210" y="4176760"/>
              <a:chExt cx="682687" cy="399710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49157F41-5908-6F4F-BDED-54E3BC983E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68306" y="4576470"/>
                <a:ext cx="53339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97034E-69E9-7C46-817F-362EEA5AB984}"/>
                  </a:ext>
                </a:extLst>
              </p:cNvPr>
              <p:cNvSpPr txBox="1"/>
              <p:nvPr/>
            </p:nvSpPr>
            <p:spPr>
              <a:xfrm>
                <a:off x="6182210" y="4176760"/>
                <a:ext cx="6826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C000"/>
                    </a:solidFill>
                  </a:rPr>
                  <a:t>Heat </a:t>
                </a: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AA4EDBD-0771-1746-95B1-5FB64753D3B1}"/>
              </a:ext>
            </a:extLst>
          </p:cNvPr>
          <p:cNvSpPr txBox="1"/>
          <p:nvPr/>
        </p:nvSpPr>
        <p:spPr>
          <a:xfrm>
            <a:off x="49356" y="1085205"/>
            <a:ext cx="542605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Exchange of momentum / heat transfer between shells of halo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Phase 1: thermalizing the halo center – core 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Phase 2: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The core slowly but continuously loses heat to outskirts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DM falls to center  -&gt; becomes even hotter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Self-accelerating, runaway process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Eventually </a:t>
            </a:r>
            <a:r>
              <a:rPr lang="en-US" sz="2200" dirty="0">
                <a:solidFill>
                  <a:srgbClr val="FF0000"/>
                </a:solidFill>
              </a:rPr>
              <a:t>core-collapses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Core-collapse: denser and hotter central region in halos, runaway process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A2534E-0FEE-354A-802E-0CBAD231C394}"/>
              </a:ext>
            </a:extLst>
          </p:cNvPr>
          <p:cNvSpPr txBox="1"/>
          <p:nvPr/>
        </p:nvSpPr>
        <p:spPr>
          <a:xfrm>
            <a:off x="406829" y="6346365"/>
            <a:ext cx="4693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Negative heat capacity of self-gravitating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123D2C-154C-4F0D-A954-7F694D9275D6}"/>
              </a:ext>
            </a:extLst>
          </p:cNvPr>
          <p:cNvSpPr txBox="1"/>
          <p:nvPr/>
        </p:nvSpPr>
        <p:spPr>
          <a:xfrm>
            <a:off x="4754269" y="5313101"/>
            <a:ext cx="1512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(temperature)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326196-A10D-463B-9242-781F1F1C0A47}"/>
              </a:ext>
            </a:extLst>
          </p:cNvPr>
          <p:cNvSpPr txBox="1"/>
          <p:nvPr/>
        </p:nvSpPr>
        <p:spPr>
          <a:xfrm>
            <a:off x="10492689" y="3752889"/>
            <a:ext cx="16993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00" dirty="0">
                <a:solidFill>
                  <a:schemeClr val="accent6"/>
                </a:solidFill>
              </a:rPr>
              <a:t>Negative T gradient</a:t>
            </a:r>
            <a:endParaRPr lang="zh-TW" altLang="en-US" sz="1500" dirty="0">
              <a:solidFill>
                <a:schemeClr val="accent6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0AEB77C-70DC-48EF-830F-18AF374CF188}"/>
              </a:ext>
            </a:extLst>
          </p:cNvPr>
          <p:cNvCxnSpPr/>
          <p:nvPr/>
        </p:nvCxnSpPr>
        <p:spPr>
          <a:xfrm flipH="1">
            <a:off x="10663285" y="4106047"/>
            <a:ext cx="87846" cy="85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8168B0E-3D9F-4873-B9A9-85341249D2F1}"/>
              </a:ext>
            </a:extLst>
          </p:cNvPr>
          <p:cNvCxnSpPr/>
          <p:nvPr/>
        </p:nvCxnSpPr>
        <p:spPr>
          <a:xfrm flipH="1">
            <a:off x="9463177" y="1984075"/>
            <a:ext cx="60385" cy="250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C8ACA0A-C87A-47D9-9F76-EED4B5800EB8}"/>
              </a:ext>
            </a:extLst>
          </p:cNvPr>
          <p:cNvCxnSpPr/>
          <p:nvPr/>
        </p:nvCxnSpPr>
        <p:spPr>
          <a:xfrm flipV="1">
            <a:off x="9627079" y="1837426"/>
            <a:ext cx="120770" cy="396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5ADDFD4-F5D6-43B8-97F6-28DBC5989832}"/>
              </a:ext>
            </a:extLst>
          </p:cNvPr>
          <p:cNvSpPr txBox="1"/>
          <p:nvPr/>
        </p:nvSpPr>
        <p:spPr>
          <a:xfrm>
            <a:off x="10751131" y="1204517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C000"/>
                </a:solidFill>
              </a:rPr>
              <a:t>t=0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A344EB-0EA9-65C3-47CD-8F67AA64E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4C788-D797-5E48-ACB2-C78B567F1C5B}" type="slidenum">
              <a:rPr lang="en-US" smtClean="0"/>
              <a:t>18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950052C-D7B7-78EF-B34A-D88566363E6A}"/>
              </a:ext>
            </a:extLst>
          </p:cNvPr>
          <p:cNvSpPr txBox="1">
            <a:spLocks/>
          </p:cNvSpPr>
          <p:nvPr/>
        </p:nvSpPr>
        <p:spPr>
          <a:xfrm>
            <a:off x="153618" y="-1664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/>
              <a:t>SIDM halos: core-formation then core-collapse</a:t>
            </a:r>
            <a:endParaRPr lang="zh-TW" altLang="en-US" sz="3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BC0E93-F041-1D00-19EC-CD0C274B7CBB}"/>
              </a:ext>
            </a:extLst>
          </p:cNvPr>
          <p:cNvSpPr txBox="1"/>
          <p:nvPr/>
        </p:nvSpPr>
        <p:spPr>
          <a:xfrm>
            <a:off x="6909237" y="1757941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density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F499E7-F2A0-1A6F-FC36-B72BF5293257}"/>
              </a:ext>
            </a:extLst>
          </p:cNvPr>
          <p:cNvSpPr txBox="1"/>
          <p:nvPr/>
        </p:nvSpPr>
        <p:spPr>
          <a:xfrm>
            <a:off x="6577558" y="3822128"/>
            <a:ext cx="2062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velocity dispersion</a:t>
            </a:r>
          </a:p>
        </p:txBody>
      </p:sp>
    </p:spTree>
    <p:extLst>
      <p:ext uri="{BB962C8B-B14F-4D97-AF65-F5344CB8AC3E}">
        <p14:creationId xmlns:p14="http://schemas.microsoft.com/office/powerpoint/2010/main" val="1479562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1000</Words>
  <Application>Microsoft Office PowerPoint</Application>
  <PresentationFormat>Widescreen</PresentationFormat>
  <Paragraphs>202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ADLaM Display</vt:lpstr>
      <vt:lpstr>Aptos</vt:lpstr>
      <vt:lpstr>Aptos Display</vt:lpstr>
      <vt:lpstr>Arial</vt:lpstr>
      <vt:lpstr>Cambria Math</vt:lpstr>
      <vt:lpstr>Wingdings</vt:lpstr>
      <vt:lpstr>Office Theme</vt:lpstr>
      <vt:lpstr>Self-interacting dark matter substructures: a tale of diversity and more </vt:lpstr>
      <vt:lpstr>Diversity problem of dwarf galaxies</vt:lpstr>
      <vt:lpstr>Diversity problem of dwarf galaxies</vt:lpstr>
      <vt:lpstr>PowerPoint Presentation</vt:lpstr>
      <vt:lpstr>PowerPoint Presentation</vt:lpstr>
      <vt:lpstr>DM-only: individual SIDM subhalo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Zeng, Zhichao</dc:creator>
  <cp:lastModifiedBy>Zeng, Zhichao</cp:lastModifiedBy>
  <cp:revision>15</cp:revision>
  <dcterms:created xsi:type="dcterms:W3CDTF">2024-08-28T04:28:27Z</dcterms:created>
  <dcterms:modified xsi:type="dcterms:W3CDTF">2024-09-03T05:39:54Z</dcterms:modified>
</cp:coreProperties>
</file>